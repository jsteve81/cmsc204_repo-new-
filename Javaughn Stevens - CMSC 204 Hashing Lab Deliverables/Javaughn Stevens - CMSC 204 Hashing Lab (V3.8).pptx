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9144000"/>
  <p:notesSz cx="7077075" cy="93837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6705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08438" y="0"/>
            <a:ext cx="306705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427163" y="1173163"/>
            <a:ext cx="4222750" cy="31670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8025" y="4516438"/>
            <a:ext cx="5661025" cy="3694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913813"/>
            <a:ext cx="3067050" cy="4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08438" y="8913813"/>
            <a:ext cx="3067050" cy="4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427163" y="1173163"/>
            <a:ext cx="4222750" cy="31670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8025" y="4516438"/>
            <a:ext cx="5661025" cy="3694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4008438" y="8913813"/>
            <a:ext cx="3067050" cy="4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idx="2" type="sldImg"/>
          </p:nvPr>
        </p:nvSpPr>
        <p:spPr>
          <a:xfrm>
            <a:off x="1427163" y="1173163"/>
            <a:ext cx="4222750" cy="31670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708025" y="4516438"/>
            <a:ext cx="5661025" cy="3694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 txBox="1"/>
          <p:nvPr>
            <p:ph idx="12" type="sldNum"/>
          </p:nvPr>
        </p:nvSpPr>
        <p:spPr>
          <a:xfrm>
            <a:off x="4008438" y="8913813"/>
            <a:ext cx="3067050" cy="4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427163" y="1173163"/>
            <a:ext cx="4222750" cy="31670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708025" y="4516438"/>
            <a:ext cx="5661025" cy="3694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 txBox="1"/>
          <p:nvPr>
            <p:ph idx="12" type="sldNum"/>
          </p:nvPr>
        </p:nvSpPr>
        <p:spPr>
          <a:xfrm>
            <a:off x="4008438" y="8913813"/>
            <a:ext cx="3067050" cy="4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/>
          <p:nvPr>
            <p:ph idx="2" type="sldImg"/>
          </p:nvPr>
        </p:nvSpPr>
        <p:spPr>
          <a:xfrm>
            <a:off x="1427163" y="1173163"/>
            <a:ext cx="4222750" cy="31670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708025" y="4516438"/>
            <a:ext cx="5661025" cy="3694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:notes"/>
          <p:cNvSpPr txBox="1"/>
          <p:nvPr>
            <p:ph idx="12" type="sldNum"/>
          </p:nvPr>
        </p:nvSpPr>
        <p:spPr>
          <a:xfrm>
            <a:off x="4008438" y="8913813"/>
            <a:ext cx="3067050" cy="4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/>
          <p:nvPr>
            <p:ph idx="2" type="sldImg"/>
          </p:nvPr>
        </p:nvSpPr>
        <p:spPr>
          <a:xfrm>
            <a:off x="1427163" y="1173163"/>
            <a:ext cx="4222750" cy="31670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708025" y="4516438"/>
            <a:ext cx="5661025" cy="3694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 txBox="1"/>
          <p:nvPr>
            <p:ph idx="12" type="sldNum"/>
          </p:nvPr>
        </p:nvSpPr>
        <p:spPr>
          <a:xfrm>
            <a:off x="4008438" y="8913813"/>
            <a:ext cx="3067050" cy="4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/>
          <p:nvPr>
            <p:ph idx="2" type="sldImg"/>
          </p:nvPr>
        </p:nvSpPr>
        <p:spPr>
          <a:xfrm>
            <a:off x="1427163" y="1173163"/>
            <a:ext cx="4222750" cy="31670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708025" y="4516438"/>
            <a:ext cx="5661025" cy="3694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 txBox="1"/>
          <p:nvPr>
            <p:ph idx="12" type="sldNum"/>
          </p:nvPr>
        </p:nvSpPr>
        <p:spPr>
          <a:xfrm>
            <a:off x="4008438" y="8913813"/>
            <a:ext cx="3067050" cy="4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514600" y="152400"/>
            <a:ext cx="41148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43450" y="2381250"/>
            <a:ext cx="5486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781050" y="514350"/>
            <a:ext cx="5486400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youtube.com/watch?v=4YiQITXu_iM&amp;t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/>
        </p:nvSpPr>
        <p:spPr>
          <a:xfrm>
            <a:off x="0" y="840350"/>
            <a:ext cx="60921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subsequent slides and complete the assignment as specified using Excel, Word or a tool of your choice</a:t>
            </a:r>
            <a:endParaRPr/>
          </a:p>
          <a:p>
            <a:pPr indent="-285750" lvl="1" marL="1028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the following key values as your starting point –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i="0" lang="en-US" sz="24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15  54  13  10  135  114  49  174  27  24</a:t>
            </a:r>
            <a:endParaRPr b="1" i="0" sz="2000" u="none" cap="none" strike="noStrike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102870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Times New Roman"/>
              <a:buChar char="–"/>
            </a:pPr>
            <a:r>
              <a:rPr b="1" i="0" lang="en-US" sz="20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coding is required for this assignment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1028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 a small write-up highlighting your learning experience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may find the following videos useful</a:t>
            </a:r>
            <a:endParaRPr/>
          </a:p>
          <a:p>
            <a:pPr indent="-15240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1" i="0" lang="en-US" sz="2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https://www.youtube.com/watch?v=4YiQITXu_iM&amp;t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 2 – 4 as well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53155" y="132467"/>
            <a:ext cx="782320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4000"/>
              <a:buFont typeface="Times New Roman"/>
              <a:buNone/>
            </a:pPr>
            <a:r>
              <a:rPr b="1" i="0" lang="en-US" sz="4000" u="none" cap="none" strike="noStrike">
                <a:solidFill>
                  <a:srgbClr val="007FA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Hashing Lab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0" y="0"/>
            <a:ext cx="75126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 hash table using open addressing with </a:t>
            </a:r>
            <a:r>
              <a:rPr b="0" i="0" lang="en-US" sz="24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probing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= 13</a:t>
            </a:r>
            <a:endParaRPr b="1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122025" y="1477375"/>
            <a:ext cx="1608900" cy="4691100"/>
          </a:xfrm>
          <a:prstGeom prst="rect">
            <a:avLst/>
          </a:prstGeom>
          <a:solidFill>
            <a:schemeClr val="lt1"/>
          </a:solidFill>
          <a:ln cap="flat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6675" lIns="113375" spcFirstLastPara="1" rIns="113375" wrap="square" tIns="56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3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Array:</a:t>
            </a:r>
            <a:endParaRPr sz="1736"/>
          </a:p>
        </p:txBody>
      </p:sp>
      <p:grpSp>
        <p:nvGrpSpPr>
          <p:cNvPr id="98" name="Google Shape;98;p14"/>
          <p:cNvGrpSpPr/>
          <p:nvPr/>
        </p:nvGrpSpPr>
        <p:grpSpPr>
          <a:xfrm>
            <a:off x="558772" y="2052092"/>
            <a:ext cx="973093" cy="3779758"/>
            <a:chOff x="5763485" y="1746270"/>
            <a:chExt cx="784626" cy="3047700"/>
          </a:xfrm>
        </p:grpSpPr>
        <p:grpSp>
          <p:nvGrpSpPr>
            <p:cNvPr id="99" name="Google Shape;99;p14"/>
            <p:cNvGrpSpPr/>
            <p:nvPr/>
          </p:nvGrpSpPr>
          <p:grpSpPr>
            <a:xfrm>
              <a:off x="6088513" y="1753437"/>
              <a:ext cx="459598" cy="2952978"/>
              <a:chOff x="5427641" y="1844409"/>
              <a:chExt cx="460133" cy="2953092"/>
            </a:xfrm>
          </p:grpSpPr>
          <p:sp>
            <p:nvSpPr>
              <p:cNvPr id="100" name="Google Shape;100;p14"/>
              <p:cNvSpPr/>
              <p:nvPr/>
            </p:nvSpPr>
            <p:spPr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118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736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1" name="Google Shape;101;p14"/>
              <p:cNvSpPr/>
              <p:nvPr/>
            </p:nvSpPr>
            <p:spPr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118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736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2" name="Google Shape;102;p14"/>
              <p:cNvSpPr/>
              <p:nvPr/>
            </p:nvSpPr>
            <p:spPr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118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736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3" name="Google Shape;103;p14"/>
              <p:cNvSpPr/>
              <p:nvPr/>
            </p:nvSpPr>
            <p:spPr>
              <a:xfrm>
                <a:off x="5427643" y="2532966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118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73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" name="Google Shape;104;p14"/>
              <p:cNvSpPr/>
              <p:nvPr/>
            </p:nvSpPr>
            <p:spPr>
              <a:xfrm>
                <a:off x="5427643" y="2762485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118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73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5" name="Google Shape;105;p14"/>
              <p:cNvSpPr/>
              <p:nvPr/>
            </p:nvSpPr>
            <p:spPr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118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736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" name="Google Shape;106;p14"/>
              <p:cNvSpPr/>
              <p:nvPr/>
            </p:nvSpPr>
            <p:spPr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118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736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" name="Google Shape;107;p14"/>
              <p:cNvSpPr/>
              <p:nvPr/>
            </p:nvSpPr>
            <p:spPr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118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73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" name="Google Shape;108;p14"/>
              <p:cNvSpPr/>
              <p:nvPr/>
            </p:nvSpPr>
            <p:spPr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118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736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" name="Google Shape;109;p14"/>
              <p:cNvSpPr/>
              <p:nvPr/>
            </p:nvSpPr>
            <p:spPr>
              <a:xfrm>
                <a:off x="5427643" y="3894665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118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73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" name="Google Shape;110;p14"/>
              <p:cNvSpPr/>
              <p:nvPr/>
            </p:nvSpPr>
            <p:spPr>
              <a:xfrm>
                <a:off x="5432410" y="4570739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118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736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" name="Google Shape;111;p14"/>
              <p:cNvSpPr/>
              <p:nvPr/>
            </p:nvSpPr>
            <p:spPr>
              <a:xfrm>
                <a:off x="5429703" y="4117152"/>
                <a:ext cx="451942" cy="226762"/>
              </a:xfrm>
              <a:prstGeom prst="rect">
                <a:avLst/>
              </a:prstGeom>
              <a:solidFill>
                <a:schemeClr val="lt1"/>
              </a:solidFill>
              <a:ln cap="flat" cmpd="sng" w="118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736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2" name="Google Shape;112;p14"/>
              <p:cNvSpPr/>
              <p:nvPr/>
            </p:nvSpPr>
            <p:spPr>
              <a:xfrm>
                <a:off x="5429700" y="4346443"/>
                <a:ext cx="452620" cy="226762"/>
              </a:xfrm>
              <a:prstGeom prst="rect">
                <a:avLst/>
              </a:prstGeom>
              <a:solidFill>
                <a:schemeClr val="lt1"/>
              </a:solidFill>
              <a:ln cap="flat" cmpd="sng" w="118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736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13" name="Google Shape;113;p14"/>
            <p:cNvSpPr txBox="1"/>
            <p:nvPr/>
          </p:nvSpPr>
          <p:spPr>
            <a:xfrm>
              <a:off x="5763485" y="1746270"/>
              <a:ext cx="364200" cy="30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6675" lIns="113375" spcFirstLastPara="1" rIns="113375" wrap="square" tIns="56675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3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sz="1736"/>
            </a:p>
            <a:p>
              <a:pPr indent="0" lvl="0" marL="0" marR="0" rtl="0" algn="r">
                <a:spcBef>
                  <a:spcPts val="124"/>
                </a:spcBef>
                <a:spcAft>
                  <a:spcPts val="0"/>
                </a:spcAft>
                <a:buNone/>
              </a:pPr>
              <a:r>
                <a:rPr b="1" i="0" lang="en-US" sz="173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736"/>
            </a:p>
            <a:p>
              <a:pPr indent="0" lvl="0" marL="0" marR="0" rtl="0" algn="r">
                <a:spcBef>
                  <a:spcPts val="124"/>
                </a:spcBef>
                <a:spcAft>
                  <a:spcPts val="0"/>
                </a:spcAft>
                <a:buNone/>
              </a:pPr>
              <a:r>
                <a:rPr b="1" i="0" lang="en-US" sz="173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736"/>
            </a:p>
            <a:p>
              <a:pPr indent="0" lvl="0" marL="0" marR="0" rtl="0" algn="r">
                <a:spcBef>
                  <a:spcPts val="124"/>
                </a:spcBef>
                <a:spcAft>
                  <a:spcPts val="0"/>
                </a:spcAft>
                <a:buNone/>
              </a:pPr>
              <a:r>
                <a:rPr b="1" i="0" lang="en-US" sz="173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736"/>
            </a:p>
            <a:p>
              <a:pPr indent="0" lvl="0" marL="0" marR="0" rtl="0" algn="r">
                <a:spcBef>
                  <a:spcPts val="124"/>
                </a:spcBef>
                <a:spcAft>
                  <a:spcPts val="0"/>
                </a:spcAft>
                <a:buNone/>
              </a:pPr>
              <a:r>
                <a:rPr b="1" i="0" lang="en-US" sz="173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sz="1736"/>
            </a:p>
            <a:p>
              <a:pPr indent="0" lvl="0" marL="0" marR="0" rtl="0" algn="r">
                <a:spcBef>
                  <a:spcPts val="124"/>
                </a:spcBef>
                <a:spcAft>
                  <a:spcPts val="0"/>
                </a:spcAft>
                <a:buNone/>
              </a:pPr>
              <a:r>
                <a:rPr b="1" i="0" lang="en-US" sz="173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1736"/>
            </a:p>
            <a:p>
              <a:pPr indent="0" lvl="0" marL="0" marR="0" rtl="0" algn="r">
                <a:spcBef>
                  <a:spcPts val="124"/>
                </a:spcBef>
                <a:spcAft>
                  <a:spcPts val="0"/>
                </a:spcAft>
                <a:buNone/>
              </a:pPr>
              <a:r>
                <a:rPr b="1" i="0" lang="en-US" sz="173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 sz="1736"/>
            </a:p>
            <a:p>
              <a:pPr indent="0" lvl="0" marL="0" marR="0" rtl="0" algn="r">
                <a:spcBef>
                  <a:spcPts val="124"/>
                </a:spcBef>
                <a:spcAft>
                  <a:spcPts val="0"/>
                </a:spcAft>
                <a:buNone/>
              </a:pPr>
              <a:r>
                <a:rPr b="1" i="0" lang="en-US" sz="173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sz="1736"/>
            </a:p>
            <a:p>
              <a:pPr indent="0" lvl="0" marL="0" marR="0" rtl="0" algn="r">
                <a:spcBef>
                  <a:spcPts val="124"/>
                </a:spcBef>
                <a:spcAft>
                  <a:spcPts val="0"/>
                </a:spcAft>
                <a:buNone/>
              </a:pPr>
              <a:r>
                <a:rPr b="1" i="0" lang="en-US" sz="173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 sz="1736"/>
            </a:p>
            <a:p>
              <a:pPr indent="0" lvl="0" marL="0" marR="0" rtl="0" algn="r">
                <a:spcBef>
                  <a:spcPts val="124"/>
                </a:spcBef>
                <a:spcAft>
                  <a:spcPts val="0"/>
                </a:spcAft>
                <a:buNone/>
              </a:pPr>
              <a:r>
                <a:rPr b="1" i="0" lang="en-US" sz="173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 sz="1736"/>
            </a:p>
            <a:p>
              <a:pPr indent="0" lvl="0" marL="0" marR="0" rtl="0" algn="r">
                <a:spcBef>
                  <a:spcPts val="124"/>
                </a:spcBef>
                <a:spcAft>
                  <a:spcPts val="0"/>
                </a:spcAft>
                <a:buNone/>
              </a:pPr>
              <a:r>
                <a:rPr b="1" i="0" lang="en-US" sz="173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 sz="1736"/>
            </a:p>
            <a:p>
              <a:pPr indent="0" lvl="0" marL="0" marR="0" rtl="0" algn="r">
                <a:spcBef>
                  <a:spcPts val="124"/>
                </a:spcBef>
                <a:spcAft>
                  <a:spcPts val="0"/>
                </a:spcAft>
                <a:buNone/>
              </a:pPr>
              <a:r>
                <a:rPr b="1" i="0" lang="en-US" sz="173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11</a:t>
              </a:r>
              <a:endParaRPr sz="1736"/>
            </a:p>
            <a:p>
              <a:pPr indent="0" lvl="0" marL="0" marR="0" rtl="0" algn="r">
                <a:spcBef>
                  <a:spcPts val="124"/>
                </a:spcBef>
                <a:spcAft>
                  <a:spcPts val="0"/>
                </a:spcAft>
                <a:buNone/>
              </a:pPr>
              <a:r>
                <a:rPr b="1" i="0" lang="en-US" sz="173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12</a:t>
              </a:r>
              <a:endParaRPr sz="1736"/>
            </a:p>
          </p:txBody>
        </p:sp>
      </p:grpSp>
      <p:pic>
        <p:nvPicPr>
          <p:cNvPr id="114" name="Google Shape;114;p14" title="Screen Shot 2026-03-06 at 3.25.51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0925" y="565676"/>
            <a:ext cx="52387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title="Screen Shot 2026-03-07 at 9.27.45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0925" y="1724100"/>
            <a:ext cx="7413074" cy="493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/>
          <p:nvPr/>
        </p:nvSpPr>
        <p:spPr>
          <a:xfrm>
            <a:off x="135925" y="130277"/>
            <a:ext cx="6582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open addressing with </a:t>
            </a:r>
            <a:r>
              <a:rPr b="0" i="0" lang="en-US" sz="24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quadratic probing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= 1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-28235" y="884219"/>
            <a:ext cx="1278000" cy="329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Array:</a:t>
            </a:r>
            <a:endParaRPr/>
          </a:p>
        </p:txBody>
      </p:sp>
      <p:grpSp>
        <p:nvGrpSpPr>
          <p:cNvPr id="123" name="Google Shape;123;p15"/>
          <p:cNvGrpSpPr/>
          <p:nvPr/>
        </p:nvGrpSpPr>
        <p:grpSpPr>
          <a:xfrm>
            <a:off x="129020" y="1128246"/>
            <a:ext cx="784626" cy="3047700"/>
            <a:chOff x="5763485" y="1746270"/>
            <a:chExt cx="784626" cy="3047700"/>
          </a:xfrm>
        </p:grpSpPr>
        <p:grpSp>
          <p:nvGrpSpPr>
            <p:cNvPr id="124" name="Google Shape;124;p15"/>
            <p:cNvGrpSpPr/>
            <p:nvPr/>
          </p:nvGrpSpPr>
          <p:grpSpPr>
            <a:xfrm>
              <a:off x="6088513" y="1753437"/>
              <a:ext cx="459598" cy="2952978"/>
              <a:chOff x="5427641" y="1844409"/>
              <a:chExt cx="460133" cy="2953092"/>
            </a:xfrm>
          </p:grpSpPr>
          <p:sp>
            <p:nvSpPr>
              <p:cNvPr id="125" name="Google Shape;125;p15"/>
              <p:cNvSpPr/>
              <p:nvPr/>
            </p:nvSpPr>
            <p:spPr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2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6" name="Google Shape;126;p15"/>
              <p:cNvSpPr/>
              <p:nvPr/>
            </p:nvSpPr>
            <p:spPr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2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7" name="Google Shape;127;p15"/>
              <p:cNvSpPr/>
              <p:nvPr/>
            </p:nvSpPr>
            <p:spPr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2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8" name="Google Shape;128;p15"/>
              <p:cNvSpPr/>
              <p:nvPr/>
            </p:nvSpPr>
            <p:spPr>
              <a:xfrm>
                <a:off x="5427643" y="2532966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9" name="Google Shape;129;p15"/>
              <p:cNvSpPr/>
              <p:nvPr/>
            </p:nvSpPr>
            <p:spPr>
              <a:xfrm>
                <a:off x="5427643" y="2762485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0" name="Google Shape;130;p15"/>
              <p:cNvSpPr/>
              <p:nvPr/>
            </p:nvSpPr>
            <p:spPr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2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1" name="Google Shape;131;p15"/>
              <p:cNvSpPr/>
              <p:nvPr/>
            </p:nvSpPr>
            <p:spPr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2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2" name="Google Shape;132;p15"/>
              <p:cNvSpPr/>
              <p:nvPr/>
            </p:nvSpPr>
            <p:spPr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3" name="Google Shape;133;p15"/>
              <p:cNvSpPr/>
              <p:nvPr/>
            </p:nvSpPr>
            <p:spPr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2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4" name="Google Shape;134;p15"/>
              <p:cNvSpPr/>
              <p:nvPr/>
            </p:nvSpPr>
            <p:spPr>
              <a:xfrm>
                <a:off x="5427643" y="3894665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5" name="Google Shape;135;p15"/>
              <p:cNvSpPr/>
              <p:nvPr/>
            </p:nvSpPr>
            <p:spPr>
              <a:xfrm>
                <a:off x="5432410" y="4570739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2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6" name="Google Shape;136;p15"/>
              <p:cNvSpPr/>
              <p:nvPr/>
            </p:nvSpPr>
            <p:spPr>
              <a:xfrm>
                <a:off x="5429703" y="4117152"/>
                <a:ext cx="451942" cy="2267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2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7" name="Google Shape;137;p15"/>
              <p:cNvSpPr/>
              <p:nvPr/>
            </p:nvSpPr>
            <p:spPr>
              <a:xfrm>
                <a:off x="5429700" y="4346443"/>
                <a:ext cx="452620" cy="2267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2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38" name="Google Shape;138;p15"/>
            <p:cNvSpPr txBox="1"/>
            <p:nvPr/>
          </p:nvSpPr>
          <p:spPr>
            <a:xfrm>
              <a:off x="5763485" y="1746270"/>
              <a:ext cx="364200" cy="30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11</a:t>
              </a:r>
              <a:endParaRPr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12</a:t>
              </a:r>
              <a:endParaRPr/>
            </a:p>
          </p:txBody>
        </p:sp>
      </p:grpSp>
      <p:pic>
        <p:nvPicPr>
          <p:cNvPr id="139" name="Google Shape;139;p15" title="Screen Shot 2026-03-07 at 9.36.01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5650" y="499526"/>
            <a:ext cx="651510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 title="Screen Shot 2026-03-07 at 10.12.09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9775" y="1774250"/>
            <a:ext cx="7894224" cy="37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/>
        </p:nvSpPr>
        <p:spPr>
          <a:xfrm>
            <a:off x="166046" y="13735"/>
            <a:ext cx="7494600" cy="49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900" lIns="91825" spcFirstLastPara="1" rIns="91825" wrap="square" tIns="45900">
            <a:spAutoFit/>
          </a:bodyPr>
          <a:lstStyle/>
          <a:p>
            <a:pPr indent="-344356" lvl="0" marL="34435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8"/>
              <a:buFont typeface="Arial"/>
              <a:buChar char="•"/>
            </a:pPr>
            <a:r>
              <a:rPr b="0" i="0" lang="en-US" sz="2008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open addressing (division hashing) and the </a:t>
            </a:r>
            <a:r>
              <a:rPr b="0" i="0" lang="en-US" sz="2008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linear-quotient</a:t>
            </a:r>
            <a:r>
              <a:rPr b="0" i="0" lang="en-US" sz="2008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collision path algorithm</a:t>
            </a:r>
            <a:endParaRPr sz="1405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8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= 13, </a:t>
            </a:r>
            <a:r>
              <a:rPr b="0" i="0" lang="en-US" sz="2008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4k+3 prime = </a:t>
            </a:r>
            <a:r>
              <a:rPr b="1" i="0" lang="en-US" sz="2008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r>
            <a:endParaRPr sz="1405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6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6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6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6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LQHashing:</a:t>
            </a:r>
            <a:endParaRPr sz="1405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i</a:t>
            </a:r>
            <a:r>
              <a:rPr b="0" i="0" lang="en-US" sz="120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US" sz="160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pk % N</a:t>
            </a:r>
            <a:endParaRPr sz="1405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q=pk/N</a:t>
            </a:r>
            <a:endParaRPr sz="1405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if (q%N != 0)</a:t>
            </a:r>
            <a:endParaRPr sz="1405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offset = q</a:t>
            </a:r>
            <a:endParaRPr sz="1405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else</a:t>
            </a:r>
            <a:endParaRPr sz="1405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offset = 4k+3 prime</a:t>
            </a:r>
            <a:endParaRPr sz="1405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While collisions:</a:t>
            </a:r>
            <a:endParaRPr sz="1405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i</a:t>
            </a:r>
            <a:r>
              <a:rPr b="0" i="0" lang="en-US" sz="120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baseline="30000" i="0" lang="en-US" sz="120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’</a:t>
            </a:r>
            <a:r>
              <a:rPr b="0" i="0" lang="en-US" sz="160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(i</a:t>
            </a:r>
            <a:r>
              <a:rPr b="0" i="0" lang="en-US" sz="120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US" sz="160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offset) % N</a:t>
            </a:r>
            <a:endParaRPr sz="1405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Set Array[i</a:t>
            </a:r>
            <a:r>
              <a:rPr b="0" i="0" lang="en-US" sz="120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US" sz="160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]=key</a:t>
            </a:r>
            <a:endParaRPr sz="1405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6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6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10365" y="1752081"/>
            <a:ext cx="2408100" cy="2678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3324174" y="456013"/>
            <a:ext cx="1278000" cy="329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Array:</a:t>
            </a:r>
            <a:endParaRPr/>
          </a:p>
        </p:txBody>
      </p:sp>
      <p:grpSp>
        <p:nvGrpSpPr>
          <p:cNvPr id="149" name="Google Shape;149;p16"/>
          <p:cNvGrpSpPr/>
          <p:nvPr/>
        </p:nvGrpSpPr>
        <p:grpSpPr>
          <a:xfrm>
            <a:off x="3532734" y="686528"/>
            <a:ext cx="787921" cy="3060500"/>
            <a:chOff x="5763485" y="1746270"/>
            <a:chExt cx="784626" cy="3047700"/>
          </a:xfrm>
        </p:grpSpPr>
        <p:grpSp>
          <p:nvGrpSpPr>
            <p:cNvPr id="150" name="Google Shape;150;p16"/>
            <p:cNvGrpSpPr/>
            <p:nvPr/>
          </p:nvGrpSpPr>
          <p:grpSpPr>
            <a:xfrm>
              <a:off x="6088513" y="1753437"/>
              <a:ext cx="459598" cy="2952978"/>
              <a:chOff x="5427641" y="1844409"/>
              <a:chExt cx="460133" cy="2953092"/>
            </a:xfrm>
          </p:grpSpPr>
          <p:sp>
            <p:nvSpPr>
              <p:cNvPr id="151" name="Google Shape;151;p16"/>
              <p:cNvSpPr/>
              <p:nvPr/>
            </p:nvSpPr>
            <p:spPr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9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205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2" name="Google Shape;152;p16"/>
              <p:cNvSpPr/>
              <p:nvPr/>
            </p:nvSpPr>
            <p:spPr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9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205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3" name="Google Shape;153;p16"/>
              <p:cNvSpPr/>
              <p:nvPr/>
            </p:nvSpPr>
            <p:spPr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9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205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4" name="Google Shape;154;p16"/>
              <p:cNvSpPr/>
              <p:nvPr/>
            </p:nvSpPr>
            <p:spPr>
              <a:xfrm>
                <a:off x="5427643" y="2532966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9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5" name="Google Shape;155;p16"/>
              <p:cNvSpPr/>
              <p:nvPr/>
            </p:nvSpPr>
            <p:spPr>
              <a:xfrm>
                <a:off x="5427643" y="2762485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9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6" name="Google Shape;156;p16"/>
              <p:cNvSpPr/>
              <p:nvPr/>
            </p:nvSpPr>
            <p:spPr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9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205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7" name="Google Shape;157;p16"/>
              <p:cNvSpPr/>
              <p:nvPr/>
            </p:nvSpPr>
            <p:spPr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9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205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8" name="Google Shape;158;p16"/>
              <p:cNvSpPr/>
              <p:nvPr/>
            </p:nvSpPr>
            <p:spPr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9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9" name="Google Shape;159;p16"/>
              <p:cNvSpPr/>
              <p:nvPr/>
            </p:nvSpPr>
            <p:spPr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9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205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0" name="Google Shape;160;p16"/>
              <p:cNvSpPr/>
              <p:nvPr/>
            </p:nvSpPr>
            <p:spPr>
              <a:xfrm>
                <a:off x="5427643" y="3894665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9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1" name="Google Shape;161;p16"/>
              <p:cNvSpPr/>
              <p:nvPr/>
            </p:nvSpPr>
            <p:spPr>
              <a:xfrm>
                <a:off x="5432410" y="4570739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9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205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2" name="Google Shape;162;p16"/>
              <p:cNvSpPr/>
              <p:nvPr/>
            </p:nvSpPr>
            <p:spPr>
              <a:xfrm>
                <a:off x="5429703" y="4117152"/>
                <a:ext cx="451942" cy="226762"/>
              </a:xfrm>
              <a:prstGeom prst="rect">
                <a:avLst/>
              </a:prstGeom>
              <a:solidFill>
                <a:schemeClr val="lt1"/>
              </a:solidFill>
              <a:ln cap="flat" cmpd="sng" w="9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205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3" name="Google Shape;163;p16"/>
              <p:cNvSpPr/>
              <p:nvPr/>
            </p:nvSpPr>
            <p:spPr>
              <a:xfrm>
                <a:off x="5429700" y="4346443"/>
                <a:ext cx="452620" cy="226762"/>
              </a:xfrm>
              <a:prstGeom prst="rect">
                <a:avLst/>
              </a:prstGeom>
              <a:solidFill>
                <a:schemeClr val="lt1"/>
              </a:solidFill>
              <a:ln cap="flat" cmpd="sng" w="9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205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64" name="Google Shape;164;p16"/>
            <p:cNvSpPr txBox="1"/>
            <p:nvPr/>
          </p:nvSpPr>
          <p:spPr>
            <a:xfrm>
              <a:off x="5763485" y="1746270"/>
              <a:ext cx="364200" cy="30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900" lIns="91825" spcFirstLastPara="1" rIns="91825" wrap="square" tIns="459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sz="1405"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405"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405"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405"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sz="1405"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1405"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 sz="1405"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sz="1405"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 sz="1405"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 sz="1405"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 sz="1405"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11</a:t>
              </a:r>
              <a:endParaRPr sz="1405"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12</a:t>
              </a:r>
              <a:endParaRPr sz="1405"/>
            </a:p>
          </p:txBody>
        </p:sp>
      </p:grpSp>
      <p:pic>
        <p:nvPicPr>
          <p:cNvPr id="165" name="Google Shape;165;p16" title="Screen Shot 2026-03-07 at 12.27.58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7875" y="456025"/>
            <a:ext cx="3757651" cy="316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6" title="Screen Shot 2026-03-07 at 12.28.42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5675" y="4040977"/>
            <a:ext cx="8167692" cy="267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 txBox="1"/>
          <p:nvPr/>
        </p:nvSpPr>
        <p:spPr>
          <a:xfrm>
            <a:off x="5875" y="1"/>
            <a:ext cx="8250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Bucket hashing where (N=10) and ip = (p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% N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81171" y="433713"/>
            <a:ext cx="1659300" cy="2763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Array:</a:t>
            </a:r>
            <a:endParaRPr/>
          </a:p>
        </p:txBody>
      </p:sp>
      <p:grpSp>
        <p:nvGrpSpPr>
          <p:cNvPr id="174" name="Google Shape;174;p17"/>
          <p:cNvGrpSpPr/>
          <p:nvPr/>
        </p:nvGrpSpPr>
        <p:grpSpPr>
          <a:xfrm>
            <a:off x="535075" y="778129"/>
            <a:ext cx="690119" cy="2362800"/>
            <a:chOff x="5853253" y="1746270"/>
            <a:chExt cx="690119" cy="2362800"/>
          </a:xfrm>
        </p:grpSpPr>
        <p:grpSp>
          <p:nvGrpSpPr>
            <p:cNvPr id="175" name="Google Shape;175;p17"/>
            <p:cNvGrpSpPr/>
            <p:nvPr/>
          </p:nvGrpSpPr>
          <p:grpSpPr>
            <a:xfrm>
              <a:off x="6088531" y="1753437"/>
              <a:ext cx="454841" cy="2292347"/>
              <a:chOff x="5427641" y="1844409"/>
              <a:chExt cx="455369" cy="2292433"/>
            </a:xfrm>
          </p:grpSpPr>
          <p:sp>
            <p:nvSpPr>
              <p:cNvPr id="176" name="Google Shape;176;p17"/>
              <p:cNvSpPr/>
              <p:nvPr/>
            </p:nvSpPr>
            <p:spPr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7" name="Google Shape;177;p17"/>
              <p:cNvSpPr/>
              <p:nvPr/>
            </p:nvSpPr>
            <p:spPr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8" name="Google Shape;178;p17"/>
              <p:cNvSpPr/>
              <p:nvPr/>
            </p:nvSpPr>
            <p:spPr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9" name="Google Shape;179;p17"/>
              <p:cNvSpPr/>
              <p:nvPr/>
            </p:nvSpPr>
            <p:spPr>
              <a:xfrm>
                <a:off x="5427643" y="2532966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0" name="Google Shape;180;p17"/>
              <p:cNvSpPr/>
              <p:nvPr/>
            </p:nvSpPr>
            <p:spPr>
              <a:xfrm>
                <a:off x="5427643" y="2762485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1" name="Google Shape;181;p17"/>
              <p:cNvSpPr/>
              <p:nvPr/>
            </p:nvSpPr>
            <p:spPr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2" name="Google Shape;182;p17"/>
              <p:cNvSpPr/>
              <p:nvPr/>
            </p:nvSpPr>
            <p:spPr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3" name="Google Shape;183;p17"/>
              <p:cNvSpPr/>
              <p:nvPr/>
            </p:nvSpPr>
            <p:spPr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4" name="Google Shape;184;p17"/>
              <p:cNvSpPr/>
              <p:nvPr/>
            </p:nvSpPr>
            <p:spPr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5427643" y="3910080"/>
                <a:ext cx="455364" cy="2267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86" name="Google Shape;186;p17"/>
            <p:cNvSpPr txBox="1"/>
            <p:nvPr/>
          </p:nvSpPr>
          <p:spPr>
            <a:xfrm>
              <a:off x="5853253" y="1746270"/>
              <a:ext cx="274500" cy="236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/>
            </a:p>
            <a:p>
              <a:pPr indent="0" lvl="0" marL="0" marR="0" rtl="0" algn="r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/>
            </a:p>
          </p:txBody>
        </p:sp>
      </p:grpSp>
      <p:pic>
        <p:nvPicPr>
          <p:cNvPr id="187" name="Google Shape;187;p17" title="Screen Shot 2026-03-07 at 12.39.49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90150"/>
            <a:ext cx="9144001" cy="2931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"/>
          <p:cNvSpPr txBox="1"/>
          <p:nvPr/>
        </p:nvSpPr>
        <p:spPr>
          <a:xfrm>
            <a:off x="4" y="0"/>
            <a:ext cx="56682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 what you have done by using an </a:t>
            </a:r>
            <a:r>
              <a:rPr b="0" i="0" lang="en-US" sz="24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addressing algorithm of your choice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10858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Come up with your own 15 keys and a 21-element array </a:t>
            </a:r>
            <a:endParaRPr/>
          </a:p>
          <a:p>
            <a:pPr indent="-342900" lvl="1" marL="10858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 yourself using an algorithm that you are most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unfamiliar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to maximize your learning experience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7429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Elements: 15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7429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= 2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4" name="Google Shape;194;p18" title="Screen Shot 2026-03-07 at 12.57.51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261600"/>
            <a:ext cx="6176926" cy="34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