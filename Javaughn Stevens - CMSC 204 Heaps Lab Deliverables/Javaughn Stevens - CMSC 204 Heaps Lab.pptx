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4409a2e4a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d4409a2e4a_0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d4409a2e4a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d4409a2e4a_0_4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d4409a2e4a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d4409a2e4a_0_5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d4409a2e4a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g3d4409a2e4a_0_6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d4409a2e4a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g3d4409a2e4a_0_8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d4409a2e4a_0_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g3d4409a2e4a_0_9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d4409a2e4a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g3d4409a2e4a_0_1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3d4409a2e4a_0_1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g3d4409a2e4a_0_12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3d4409a2e4a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g3d4409a2e4a_0_14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g3d4409a2e4a_0_1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g3d4409a2e4a_0_15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stackabuse.com/heap-sort-in-java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0275" y="-21950"/>
            <a:ext cx="85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 the heapsort algorithm manually by sorting the following 9 element array: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-3" y="224480"/>
            <a:ext cx="8232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Data: [5, 22, 9, …, 28]  // the “elements” in the first column of below table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all steps (Use an application of choice to complete the assignment)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into a heap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Sort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228600" y="1905000"/>
            <a:ext cx="547688" cy="4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[ 0 ]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[ 1 ]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[ 2 ]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[ 3 ]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[ 4 ]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[ 5 ]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[ 6 ]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[ 7 ]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[ 8 ]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[ 9 ]</a:t>
            </a:r>
            <a:endParaRPr/>
          </a:p>
        </p:txBody>
      </p:sp>
      <p:grpSp>
        <p:nvGrpSpPr>
          <p:cNvPr id="87" name="Google Shape;87;p13"/>
          <p:cNvGrpSpPr/>
          <p:nvPr/>
        </p:nvGrpSpPr>
        <p:grpSpPr>
          <a:xfrm>
            <a:off x="762000" y="1828800"/>
            <a:ext cx="609600" cy="4876800"/>
            <a:chOff x="480" y="1152"/>
            <a:chExt cx="384" cy="3072"/>
          </a:xfrm>
        </p:grpSpPr>
        <p:cxnSp>
          <p:nvCxnSpPr>
            <p:cNvPr id="88" name="Google Shape;88;p13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9" name="Google Shape;89;p13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" name="Google Shape;90;p13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" name="Google Shape;91;p13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" name="Google Shape;92;p13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" name="Google Shape;93;p13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" name="Google Shape;94;p13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" name="Google Shape;95;p13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" name="Google Shape;96;p13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" name="Google Shape;97;p13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8" name="Google Shape;98;p13"/>
          <p:cNvGrpSpPr/>
          <p:nvPr/>
        </p:nvGrpSpPr>
        <p:grpSpPr>
          <a:xfrm>
            <a:off x="3200400" y="1828800"/>
            <a:ext cx="609600" cy="4876800"/>
            <a:chOff x="480" y="1152"/>
            <a:chExt cx="384" cy="3072"/>
          </a:xfrm>
        </p:grpSpPr>
        <p:cxnSp>
          <p:nvCxnSpPr>
            <p:cNvPr id="99" name="Google Shape;99;p13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0" name="Google Shape;100;p13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81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9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</p:txBody>
        </p:sp>
        <p:cxnSp>
          <p:nvCxnSpPr>
            <p:cNvPr id="101" name="Google Shape;101;p13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" name="Google Shape;102;p13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" name="Google Shape;103;p13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" name="Google Shape;104;p13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" name="Google Shape;105;p13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" name="Google Shape;106;p13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" name="Google Shape;107;p13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" name="Google Shape;108;p13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9" name="Google Shape;109;p13"/>
          <p:cNvGrpSpPr/>
          <p:nvPr/>
        </p:nvGrpSpPr>
        <p:grpSpPr>
          <a:xfrm>
            <a:off x="3810000" y="1828800"/>
            <a:ext cx="609600" cy="4876800"/>
            <a:chOff x="480" y="1152"/>
            <a:chExt cx="384" cy="3072"/>
          </a:xfrm>
        </p:grpSpPr>
        <p:cxnSp>
          <p:nvCxnSpPr>
            <p:cNvPr id="110" name="Google Shape;110;p13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" name="Google Shape;111;p13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92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22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</p:txBody>
        </p:sp>
        <p:cxnSp>
          <p:nvCxnSpPr>
            <p:cNvPr id="112" name="Google Shape;112;p13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" name="Google Shape;113;p13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" name="Google Shape;114;p13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13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13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13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13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13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0" name="Google Shape;120;p13"/>
          <p:cNvGrpSpPr/>
          <p:nvPr/>
        </p:nvGrpSpPr>
        <p:grpSpPr>
          <a:xfrm>
            <a:off x="4419600" y="1828800"/>
            <a:ext cx="609600" cy="4876800"/>
            <a:chOff x="480" y="1152"/>
            <a:chExt cx="384" cy="3072"/>
          </a:xfrm>
        </p:grpSpPr>
        <p:cxnSp>
          <p:nvCxnSpPr>
            <p:cNvPr id="121" name="Google Shape;121;p13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" name="Google Shape;122;p13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76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22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23" name="Google Shape;123;p13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" name="Google Shape;124;p13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p13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13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13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13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13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13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1" name="Google Shape;131;p13"/>
          <p:cNvGrpSpPr/>
          <p:nvPr/>
        </p:nvGrpSpPr>
        <p:grpSpPr>
          <a:xfrm>
            <a:off x="5033963" y="1828800"/>
            <a:ext cx="609600" cy="4876800"/>
            <a:chOff x="480" y="1152"/>
            <a:chExt cx="384" cy="3072"/>
          </a:xfrm>
        </p:grpSpPr>
        <p:cxnSp>
          <p:nvCxnSpPr>
            <p:cNvPr id="132" name="Google Shape;132;p13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3" name="Google Shape;133;p13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92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5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34" name="Google Shape;134;p13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" name="Google Shape;135;p13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" name="Google Shape;136;p13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" name="Google Shape;137;p13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" name="Google Shape;138;p13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" name="Google Shape;139;p13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" name="Google Shape;140;p13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" name="Google Shape;141;p13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2" name="Google Shape;142;p13"/>
          <p:cNvGrpSpPr/>
          <p:nvPr/>
        </p:nvGrpSpPr>
        <p:grpSpPr>
          <a:xfrm>
            <a:off x="2590800" y="1828800"/>
            <a:ext cx="609600" cy="4876800"/>
            <a:chOff x="480" y="1152"/>
            <a:chExt cx="384" cy="3072"/>
          </a:xfrm>
        </p:grpSpPr>
        <p:cxnSp>
          <p:nvCxnSpPr>
            <p:cNvPr id="143" name="Google Shape;143;p13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4" name="Google Shape;144;p13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</p:txBody>
        </p:sp>
        <p:cxnSp>
          <p:nvCxnSpPr>
            <p:cNvPr id="145" name="Google Shape;145;p13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13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p13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" name="Google Shape;148;p13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" name="Google Shape;149;p13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" name="Google Shape;150;p13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" name="Google Shape;151;p13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" name="Google Shape;152;p13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3" name="Google Shape;153;p13"/>
          <p:cNvGrpSpPr/>
          <p:nvPr/>
        </p:nvGrpSpPr>
        <p:grpSpPr>
          <a:xfrm>
            <a:off x="1981200" y="1828800"/>
            <a:ext cx="609600" cy="4876800"/>
            <a:chOff x="480" y="1152"/>
            <a:chExt cx="384" cy="3072"/>
          </a:xfrm>
        </p:grpSpPr>
        <p:cxnSp>
          <p:nvCxnSpPr>
            <p:cNvPr id="154" name="Google Shape;154;p13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5" name="Google Shape;155;p13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" name="Google Shape;156;p13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13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13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13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13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13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13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13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4" name="Google Shape;164;p13"/>
          <p:cNvSpPr txBox="1"/>
          <p:nvPr/>
        </p:nvSpPr>
        <p:spPr>
          <a:xfrm>
            <a:off x="7252900" y="625000"/>
            <a:ext cx="1274700" cy="27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Max-Heap</a:t>
            </a:r>
            <a:endParaRPr/>
          </a:p>
        </p:txBody>
      </p:sp>
      <p:grpSp>
        <p:nvGrpSpPr>
          <p:cNvPr id="165" name="Google Shape;165;p13"/>
          <p:cNvGrpSpPr/>
          <p:nvPr/>
        </p:nvGrpSpPr>
        <p:grpSpPr>
          <a:xfrm>
            <a:off x="5635625" y="1831975"/>
            <a:ext cx="609600" cy="4876800"/>
            <a:chOff x="480" y="1152"/>
            <a:chExt cx="384" cy="3072"/>
          </a:xfrm>
        </p:grpSpPr>
        <p:cxnSp>
          <p:nvCxnSpPr>
            <p:cNvPr id="166" name="Google Shape;166;p13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7" name="Google Shape;167;p13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76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5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68" name="Google Shape;168;p13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13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13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13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13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" name="Google Shape;173;p13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" name="Google Shape;174;p13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" name="Google Shape;175;p13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6" name="Google Shape;176;p13"/>
          <p:cNvGrpSpPr/>
          <p:nvPr/>
        </p:nvGrpSpPr>
        <p:grpSpPr>
          <a:xfrm>
            <a:off x="6249988" y="1831975"/>
            <a:ext cx="609600" cy="4876800"/>
            <a:chOff x="480" y="1152"/>
            <a:chExt cx="384" cy="3072"/>
          </a:xfrm>
        </p:grpSpPr>
        <p:cxnSp>
          <p:nvCxnSpPr>
            <p:cNvPr id="177" name="Google Shape;177;p13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8" name="Google Shape;178;p13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54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5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79" name="Google Shape;179;p13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13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13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13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" name="Google Shape;183;p13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4" name="Google Shape;184;p13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5" name="Google Shape;185;p13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" name="Google Shape;186;p13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87" name="Google Shape;187;p13"/>
          <p:cNvGrpSpPr/>
          <p:nvPr/>
        </p:nvGrpSpPr>
        <p:grpSpPr>
          <a:xfrm>
            <a:off x="6865938" y="1831975"/>
            <a:ext cx="609600" cy="4876800"/>
            <a:chOff x="480" y="1152"/>
            <a:chExt cx="384" cy="3072"/>
          </a:xfrm>
        </p:grpSpPr>
        <p:cxnSp>
          <p:nvCxnSpPr>
            <p:cNvPr id="188" name="Google Shape;188;p13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9" name="Google Shape;189;p13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0" name="Google Shape;190;p13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1" name="Google Shape;191;p13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p13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p13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" name="Google Shape;194;p13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" name="Google Shape;195;p13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6" name="Google Shape;196;p13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" name="Google Shape;197;p13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8" name="Google Shape;198;p13"/>
          <p:cNvSpPr/>
          <p:nvPr/>
        </p:nvSpPr>
        <p:spPr>
          <a:xfrm>
            <a:off x="854075" y="1871663"/>
            <a:ext cx="414338" cy="4772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  <p:grpSp>
        <p:nvGrpSpPr>
          <p:cNvPr id="199" name="Google Shape;199;p13"/>
          <p:cNvGrpSpPr/>
          <p:nvPr/>
        </p:nvGrpSpPr>
        <p:grpSpPr>
          <a:xfrm>
            <a:off x="1386675" y="1831975"/>
            <a:ext cx="609600" cy="4876800"/>
            <a:chOff x="480" y="1152"/>
            <a:chExt cx="300" cy="3000"/>
          </a:xfrm>
        </p:grpSpPr>
        <p:cxnSp>
          <p:nvCxnSpPr>
            <p:cNvPr id="200" name="Google Shape;200;p13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1" name="Google Shape;201;p13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202" name="Google Shape;202;p13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3" name="Google Shape;203;p13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4" name="Google Shape;204;p13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5" name="Google Shape;205;p13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6" name="Google Shape;206;p13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7" name="Google Shape;207;p13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8" name="Google Shape;208;p13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9" name="Google Shape;209;p13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0" name="Google Shape;210;p13"/>
          <p:cNvSpPr txBox="1"/>
          <p:nvPr/>
        </p:nvSpPr>
        <p:spPr>
          <a:xfrm>
            <a:off x="7972663" y="1540213"/>
            <a:ext cx="4677600" cy="81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1a: Start with last non-leaf node and trickle down.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-"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Heapify index[4] 63 and compare with its child node index[9] 28. Because 63 is already greater than 28, we don’t swap the elements.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-"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Heapify index[3] 76 and compare with its children nodes 92 and 54 at indexes [3] and [8] . Because 92 is greater than 76 and 54, we swap indexes 92 and 76.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-"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Heapify index[2] 9: Compare with its children nodes 81 and 48 at indexes[5] and [6]. </a:t>
            </a: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81  is greater than 48 and 9, we swap indexes 81 and 9.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-"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Heapify index[1] 22: Compare with its children nodes 92 and 63. Because 92 is the greatest out of these 3 numbers, we swap indexes 22 and 92.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-"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Heapify index[0] 5: Compare with its children nodes 92 and 81. Because 92 is the greates out of these 3 numbers, we swap indexes 5 and 92.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1478460" y="1887488"/>
            <a:ext cx="414300" cy="47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  <p:sp>
        <p:nvSpPr>
          <p:cNvPr id="212" name="Google Shape;212;p13"/>
          <p:cNvSpPr/>
          <p:nvPr/>
        </p:nvSpPr>
        <p:spPr>
          <a:xfrm>
            <a:off x="2086398" y="1881138"/>
            <a:ext cx="414300" cy="47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/>
              <a:t>9</a:t>
            </a:r>
            <a:endParaRPr b="1"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</a:rPr>
              <a:t>92</a:t>
            </a:r>
            <a:endParaRPr>
              <a:highlight>
                <a:srgbClr val="FFFF00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</a:rPr>
              <a:t>76</a:t>
            </a:r>
            <a:endParaRPr>
              <a:highlight>
                <a:srgbClr val="FFFF00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  <p:sp>
        <p:nvSpPr>
          <p:cNvPr id="213" name="Google Shape;213;p13"/>
          <p:cNvSpPr txBox="1"/>
          <p:nvPr/>
        </p:nvSpPr>
        <p:spPr>
          <a:xfrm>
            <a:off x="-52801" y="1139639"/>
            <a:ext cx="828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From the Pearson video index[0] is typically unused so index 1 is the root, and index[4] is the last non-leaf node. 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13"/>
          <p:cNvSpPr txBox="1"/>
          <p:nvPr/>
        </p:nvSpPr>
        <p:spPr>
          <a:xfrm>
            <a:off x="1371595" y="7326553"/>
            <a:ext cx="46776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1b: Since index[0] 5 currently has </a:t>
            </a: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children greater than it, we must trickle down: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Swap 5 with child 76, and then using the formula 2i + 1 and 2i + 2 for the next 2 children we get 2(3) + 1 and 2(3) + 2 which is index[7] and index[8] with the values 22 and 54 respectively. We can swap 5 with 54 because 54 is larger than all 3 values.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13"/>
          <p:cNvSpPr txBox="1"/>
          <p:nvPr/>
        </p:nvSpPr>
        <p:spPr>
          <a:xfrm>
            <a:off x="-2902975" y="1281750"/>
            <a:ext cx="21927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 highlighted in yellow are values that were swapped from the previous array.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"/>
          <p:cNvSpPr txBox="1"/>
          <p:nvPr/>
        </p:nvSpPr>
        <p:spPr>
          <a:xfrm>
            <a:off x="20275" y="-21950"/>
            <a:ext cx="85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 the heapsort algorithm manually by sorting the following 9 element array:</a:t>
            </a:r>
            <a:endParaRPr/>
          </a:p>
        </p:txBody>
      </p:sp>
      <p:sp>
        <p:nvSpPr>
          <p:cNvPr id="221" name="Google Shape;221;p14"/>
          <p:cNvSpPr txBox="1"/>
          <p:nvPr/>
        </p:nvSpPr>
        <p:spPr>
          <a:xfrm>
            <a:off x="-3" y="224480"/>
            <a:ext cx="8232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Data: [5, 22, 9, …, 28]  // the “elements” in the first column of below table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all steps (Use an application of choice to complete the assignment)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into a heap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Sort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228600" y="1517542"/>
            <a:ext cx="547800" cy="4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[ 0 ]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[ 1 ]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[ 2 ]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[ 3 ]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[ 4 ]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[ 5 ]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[ 6 ]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[ 7 ]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[ 8 ]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[ 9 ]</a:t>
            </a:r>
            <a:endParaRPr/>
          </a:p>
        </p:txBody>
      </p:sp>
      <p:grpSp>
        <p:nvGrpSpPr>
          <p:cNvPr id="223" name="Google Shape;223;p14"/>
          <p:cNvGrpSpPr/>
          <p:nvPr/>
        </p:nvGrpSpPr>
        <p:grpSpPr>
          <a:xfrm>
            <a:off x="762000" y="1441342"/>
            <a:ext cx="609600" cy="4762500"/>
            <a:chOff x="480" y="1152"/>
            <a:chExt cx="300" cy="3000"/>
          </a:xfrm>
        </p:grpSpPr>
        <p:cxnSp>
          <p:nvCxnSpPr>
            <p:cNvPr id="224" name="Google Shape;224;p14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5" name="Google Shape;225;p14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6" name="Google Shape;226;p14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7" name="Google Shape;227;p14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8" name="Google Shape;228;p14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9" name="Google Shape;229;p14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0" name="Google Shape;230;p14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14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14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" name="Google Shape;233;p14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4" name="Google Shape;234;p14"/>
          <p:cNvSpPr txBox="1"/>
          <p:nvPr/>
        </p:nvSpPr>
        <p:spPr>
          <a:xfrm>
            <a:off x="7252900" y="625001"/>
            <a:ext cx="1274700" cy="554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</a:pPr>
            <a:r>
              <a:rPr b="1" i="1" lang="en-US" sz="1800">
                <a:solidFill>
                  <a:srgbClr val="FFFF00"/>
                </a:solidFill>
              </a:rPr>
              <a:t>Sort Pass 1</a:t>
            </a:r>
            <a:endParaRPr/>
          </a:p>
        </p:txBody>
      </p:sp>
      <p:grpSp>
        <p:nvGrpSpPr>
          <p:cNvPr id="235" name="Google Shape;235;p14"/>
          <p:cNvGrpSpPr/>
          <p:nvPr/>
        </p:nvGrpSpPr>
        <p:grpSpPr>
          <a:xfrm>
            <a:off x="1386650" y="1435467"/>
            <a:ext cx="609600" cy="4819075"/>
            <a:chOff x="480" y="1152"/>
            <a:chExt cx="300" cy="3000"/>
          </a:xfrm>
        </p:grpSpPr>
        <p:cxnSp>
          <p:nvCxnSpPr>
            <p:cNvPr id="236" name="Google Shape;236;p14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7" name="Google Shape;237;p14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238" name="Google Shape;238;p14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9" name="Google Shape;239;p14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0" name="Google Shape;240;p14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" name="Google Shape;241;p14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14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" name="Google Shape;243;p14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" name="Google Shape;244;p14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14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6" name="Google Shape;246;p14"/>
          <p:cNvSpPr txBox="1"/>
          <p:nvPr/>
        </p:nvSpPr>
        <p:spPr>
          <a:xfrm>
            <a:off x="8376263" y="1517538"/>
            <a:ext cx="46776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2a: Repeatedly swap root with last element and then reheap.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81 is greater than child 76 and parent 28 so 81 is swapped with 28.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 is the next biggest child, so we swap 48 with 28.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7" name="Google Shape;247;p14"/>
          <p:cNvGrpSpPr/>
          <p:nvPr/>
        </p:nvGrpSpPr>
        <p:grpSpPr>
          <a:xfrm>
            <a:off x="843400" y="1435463"/>
            <a:ext cx="476250" cy="4762500"/>
            <a:chOff x="480" y="1152"/>
            <a:chExt cx="300" cy="3000"/>
          </a:xfrm>
        </p:grpSpPr>
        <p:cxnSp>
          <p:nvCxnSpPr>
            <p:cNvPr id="248" name="Google Shape;248;p14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9" name="Google Shape;249;p14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250" name="Google Shape;250;p14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" name="Google Shape;251;p14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14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3" name="Google Shape;253;p14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4" name="Google Shape;254;p14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5" name="Google Shape;255;p14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6" name="Google Shape;256;p14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7" name="Google Shape;257;p14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8" name="Google Shape;258;p14"/>
          <p:cNvGrpSpPr/>
          <p:nvPr/>
        </p:nvGrpSpPr>
        <p:grpSpPr>
          <a:xfrm>
            <a:off x="1996250" y="1435467"/>
            <a:ext cx="609600" cy="4819075"/>
            <a:chOff x="480" y="1152"/>
            <a:chExt cx="300" cy="3000"/>
          </a:xfrm>
        </p:grpSpPr>
        <p:cxnSp>
          <p:nvCxnSpPr>
            <p:cNvPr id="259" name="Google Shape;259;p14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0" name="Google Shape;260;p14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81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28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261" name="Google Shape;261;p14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2" name="Google Shape;262;p14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3" name="Google Shape;263;p14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4" name="Google Shape;264;p14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5" name="Google Shape;265;p14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" name="Google Shape;266;p14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7" name="Google Shape;267;p14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8" name="Google Shape;268;p14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69" name="Google Shape;269;p14"/>
          <p:cNvGrpSpPr/>
          <p:nvPr/>
        </p:nvGrpSpPr>
        <p:grpSpPr>
          <a:xfrm>
            <a:off x="2613375" y="1435467"/>
            <a:ext cx="609600" cy="4819075"/>
            <a:chOff x="480" y="1152"/>
            <a:chExt cx="300" cy="3000"/>
          </a:xfrm>
        </p:grpSpPr>
        <p:cxnSp>
          <p:nvCxnSpPr>
            <p:cNvPr id="270" name="Google Shape;270;p14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1" name="Google Shape;271;p14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48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28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272" name="Google Shape;272;p14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3" name="Google Shape;273;p14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4" name="Google Shape;274;p14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5" name="Google Shape;275;p14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6" name="Google Shape;276;p14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7" name="Google Shape;277;p14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8" name="Google Shape;278;p14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9" name="Google Shape;279;p14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0" name="Google Shape;280;p14"/>
          <p:cNvGrpSpPr/>
          <p:nvPr/>
        </p:nvGrpSpPr>
        <p:grpSpPr>
          <a:xfrm>
            <a:off x="3230500" y="1444217"/>
            <a:ext cx="609600" cy="4819075"/>
            <a:chOff x="480" y="1152"/>
            <a:chExt cx="300" cy="3000"/>
          </a:xfrm>
        </p:grpSpPr>
        <p:cxnSp>
          <p:nvCxnSpPr>
            <p:cNvPr id="281" name="Google Shape;281;p14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2" name="Google Shape;282;p14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283" name="Google Shape;283;p14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4" name="Google Shape;284;p14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5" name="Google Shape;285;p14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6" name="Google Shape;286;p14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7" name="Google Shape;287;p14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8" name="Google Shape;288;p14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9" name="Google Shape;289;p14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0" name="Google Shape;290;p14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91" name="Google Shape;291;p14"/>
          <p:cNvGrpSpPr/>
          <p:nvPr/>
        </p:nvGrpSpPr>
        <p:grpSpPr>
          <a:xfrm>
            <a:off x="3847625" y="1435467"/>
            <a:ext cx="609600" cy="4819075"/>
            <a:chOff x="480" y="1152"/>
            <a:chExt cx="300" cy="3000"/>
          </a:xfrm>
        </p:grpSpPr>
        <p:cxnSp>
          <p:nvCxnSpPr>
            <p:cNvPr id="292" name="Google Shape;292;p14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3" name="Google Shape;293;p14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294" name="Google Shape;294;p14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5" name="Google Shape;295;p14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6" name="Google Shape;296;p14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7" name="Google Shape;297;p14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8" name="Google Shape;298;p14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9" name="Google Shape;299;p14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2" name="Google Shape;302;p14"/>
          <p:cNvGrpSpPr/>
          <p:nvPr/>
        </p:nvGrpSpPr>
        <p:grpSpPr>
          <a:xfrm>
            <a:off x="4464750" y="1439842"/>
            <a:ext cx="609600" cy="4819075"/>
            <a:chOff x="480" y="1152"/>
            <a:chExt cx="300" cy="3000"/>
          </a:xfrm>
        </p:grpSpPr>
        <p:cxnSp>
          <p:nvCxnSpPr>
            <p:cNvPr id="303" name="Google Shape;303;p14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4" name="Google Shape;304;p14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305" name="Google Shape;305;p14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13" name="Google Shape;313;p14"/>
          <p:cNvGrpSpPr/>
          <p:nvPr/>
        </p:nvGrpSpPr>
        <p:grpSpPr>
          <a:xfrm>
            <a:off x="5074350" y="1439842"/>
            <a:ext cx="609600" cy="4819075"/>
            <a:chOff x="480" y="1152"/>
            <a:chExt cx="300" cy="3000"/>
          </a:xfrm>
        </p:grpSpPr>
        <p:cxnSp>
          <p:nvCxnSpPr>
            <p:cNvPr id="314" name="Google Shape;314;p14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5" name="Google Shape;315;p14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316" name="Google Shape;316;p14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8" name="Google Shape;318;p14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9" name="Google Shape;319;p14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0" name="Google Shape;320;p14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1" name="Google Shape;321;p14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2" name="Google Shape;322;p14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3" name="Google Shape;323;p14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24" name="Google Shape;324;p14"/>
          <p:cNvGrpSpPr/>
          <p:nvPr/>
        </p:nvGrpSpPr>
        <p:grpSpPr>
          <a:xfrm>
            <a:off x="5691475" y="1439842"/>
            <a:ext cx="609600" cy="4819075"/>
            <a:chOff x="480" y="1152"/>
            <a:chExt cx="300" cy="3000"/>
          </a:xfrm>
        </p:grpSpPr>
        <p:cxnSp>
          <p:nvCxnSpPr>
            <p:cNvPr id="325" name="Google Shape;325;p14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6" name="Google Shape;326;p14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327" name="Google Shape;327;p14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8" name="Google Shape;328;p14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9" name="Google Shape;329;p14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0" name="Google Shape;330;p14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1" name="Google Shape;331;p14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2" name="Google Shape;332;p14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3" name="Google Shape;333;p14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4" name="Google Shape;334;p14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35" name="Google Shape;335;p14"/>
          <p:cNvGrpSpPr/>
          <p:nvPr/>
        </p:nvGrpSpPr>
        <p:grpSpPr>
          <a:xfrm>
            <a:off x="6308600" y="1448592"/>
            <a:ext cx="609600" cy="4819075"/>
            <a:chOff x="480" y="1152"/>
            <a:chExt cx="300" cy="3000"/>
          </a:xfrm>
        </p:grpSpPr>
        <p:cxnSp>
          <p:nvCxnSpPr>
            <p:cNvPr id="336" name="Google Shape;336;p14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7" name="Google Shape;337;p14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338" name="Google Shape;338;p14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9" name="Google Shape;339;p14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0" name="Google Shape;340;p14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1" name="Google Shape;341;p14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2" name="Google Shape;342;p14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3" name="Google Shape;343;p14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4" name="Google Shape;344;p14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5" name="Google Shape;345;p14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46" name="Google Shape;346;p14"/>
          <p:cNvGrpSpPr/>
          <p:nvPr/>
        </p:nvGrpSpPr>
        <p:grpSpPr>
          <a:xfrm>
            <a:off x="6925725" y="1439842"/>
            <a:ext cx="609600" cy="4819075"/>
            <a:chOff x="480" y="1152"/>
            <a:chExt cx="300" cy="3000"/>
          </a:xfrm>
        </p:grpSpPr>
        <p:cxnSp>
          <p:nvCxnSpPr>
            <p:cNvPr id="347" name="Google Shape;347;p14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8" name="Google Shape;348;p14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349" name="Google Shape;349;p14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0" name="Google Shape;350;p14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1" name="Google Shape;351;p14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2" name="Google Shape;352;p14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3" name="Google Shape;353;p14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4" name="Google Shape;354;p14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5" name="Google Shape;355;p14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6" name="Google Shape;356;p14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57" name="Google Shape;357;p14"/>
          <p:cNvGrpSpPr/>
          <p:nvPr/>
        </p:nvGrpSpPr>
        <p:grpSpPr>
          <a:xfrm>
            <a:off x="7542850" y="1448592"/>
            <a:ext cx="609600" cy="4819075"/>
            <a:chOff x="480" y="1152"/>
            <a:chExt cx="300" cy="3000"/>
          </a:xfrm>
        </p:grpSpPr>
        <p:cxnSp>
          <p:nvCxnSpPr>
            <p:cNvPr id="358" name="Google Shape;358;p14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9" name="Google Shape;359;p14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360" name="Google Shape;360;p14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1" name="Google Shape;361;p14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2" name="Google Shape;362;p14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3" name="Google Shape;363;p14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4" name="Google Shape;364;p14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5" name="Google Shape;365;p14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6" name="Google Shape;366;p14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7" name="Google Shape;367;p14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68" name="Google Shape;368;p14"/>
          <p:cNvSpPr/>
          <p:nvPr/>
        </p:nvSpPr>
        <p:spPr>
          <a:xfrm>
            <a:off x="1445725" y="1435463"/>
            <a:ext cx="476400" cy="47625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</a:rPr>
              <a:t>28</a:t>
            </a:r>
            <a:endParaRPr b="1" sz="1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76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81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54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63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9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48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22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5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</a:rPr>
              <a:t>92</a:t>
            </a:r>
            <a:endParaRPr sz="18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"/>
          <p:cNvSpPr txBox="1"/>
          <p:nvPr/>
        </p:nvSpPr>
        <p:spPr>
          <a:xfrm>
            <a:off x="20275" y="-21950"/>
            <a:ext cx="85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 the heapsort algorithm manually by sorting the following 9 element array:</a:t>
            </a:r>
            <a:endParaRPr/>
          </a:p>
        </p:txBody>
      </p:sp>
      <p:sp>
        <p:nvSpPr>
          <p:cNvPr id="374" name="Google Shape;374;p15"/>
          <p:cNvSpPr txBox="1"/>
          <p:nvPr/>
        </p:nvSpPr>
        <p:spPr>
          <a:xfrm>
            <a:off x="-3" y="224480"/>
            <a:ext cx="8232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Data: [5, 22, 9, …, 28]  // the “elements” in the first column of below table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all steps (Use an application of choice to complete the assignment)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into a heap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Sort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228600" y="1517542"/>
            <a:ext cx="547800" cy="4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[ 0 ]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[ 1 ]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[ 2 ]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[ 3 ]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[ 4 ]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[ 5 ]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[ 6 ]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[ 7 ]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[ 8 ]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[ 9 ]</a:t>
            </a:r>
            <a:endParaRPr/>
          </a:p>
        </p:txBody>
      </p:sp>
      <p:grpSp>
        <p:nvGrpSpPr>
          <p:cNvPr id="376" name="Google Shape;376;p15"/>
          <p:cNvGrpSpPr/>
          <p:nvPr/>
        </p:nvGrpSpPr>
        <p:grpSpPr>
          <a:xfrm>
            <a:off x="762000" y="1441342"/>
            <a:ext cx="609600" cy="4762500"/>
            <a:chOff x="480" y="1152"/>
            <a:chExt cx="300" cy="3000"/>
          </a:xfrm>
        </p:grpSpPr>
        <p:cxnSp>
          <p:nvCxnSpPr>
            <p:cNvPr id="377" name="Google Shape;377;p15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8" name="Google Shape;378;p15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379" name="Google Shape;379;p15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0" name="Google Shape;380;p15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1" name="Google Shape;381;p15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2" name="Google Shape;382;p15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3" name="Google Shape;383;p15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4" name="Google Shape;384;p15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5" name="Google Shape;385;p15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6" name="Google Shape;386;p15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87" name="Google Shape;387;p15"/>
          <p:cNvSpPr txBox="1"/>
          <p:nvPr/>
        </p:nvSpPr>
        <p:spPr>
          <a:xfrm>
            <a:off x="7252900" y="625001"/>
            <a:ext cx="1274700" cy="554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</a:pPr>
            <a:r>
              <a:rPr b="1" i="1" lang="en-US" sz="1800">
                <a:solidFill>
                  <a:srgbClr val="FFFF00"/>
                </a:solidFill>
              </a:rPr>
              <a:t>Sort Pass 2</a:t>
            </a:r>
            <a:endParaRPr/>
          </a:p>
        </p:txBody>
      </p:sp>
      <p:grpSp>
        <p:nvGrpSpPr>
          <p:cNvPr id="388" name="Google Shape;388;p15"/>
          <p:cNvGrpSpPr/>
          <p:nvPr/>
        </p:nvGrpSpPr>
        <p:grpSpPr>
          <a:xfrm>
            <a:off x="1386650" y="1435467"/>
            <a:ext cx="609600" cy="4819075"/>
            <a:chOff x="480" y="1152"/>
            <a:chExt cx="300" cy="3000"/>
          </a:xfrm>
        </p:grpSpPr>
        <p:cxnSp>
          <p:nvCxnSpPr>
            <p:cNvPr id="389" name="Google Shape;389;p15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0" name="Google Shape;390;p15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5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81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391" name="Google Shape;391;p15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2" name="Google Shape;392;p15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3" name="Google Shape;393;p15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5" name="Google Shape;395;p15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6" name="Google Shape;396;p15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7" name="Google Shape;397;p15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8" name="Google Shape;398;p15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99" name="Google Shape;399;p15"/>
          <p:cNvSpPr txBox="1"/>
          <p:nvPr/>
        </p:nvSpPr>
        <p:spPr>
          <a:xfrm>
            <a:off x="8376263" y="1517538"/>
            <a:ext cx="46776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Next, we swap 81 with 5 (penultimate index)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then heapify 5 with 76 and then 5 with 63 in the manner we have been doing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00" name="Google Shape;400;p15"/>
          <p:cNvGrpSpPr/>
          <p:nvPr/>
        </p:nvGrpSpPr>
        <p:grpSpPr>
          <a:xfrm>
            <a:off x="2613375" y="1435467"/>
            <a:ext cx="609600" cy="4819075"/>
            <a:chOff x="480" y="1152"/>
            <a:chExt cx="300" cy="3000"/>
          </a:xfrm>
        </p:grpSpPr>
        <p:cxnSp>
          <p:nvCxnSpPr>
            <p:cNvPr id="401" name="Google Shape;401;p15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2" name="Google Shape;402;p15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63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5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403" name="Google Shape;403;p15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4" name="Google Shape;404;p15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5" name="Google Shape;405;p15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6" name="Google Shape;406;p15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7" name="Google Shape;407;p15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8" name="Google Shape;408;p15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9" name="Google Shape;409;p15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0" name="Google Shape;410;p15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11" name="Google Shape;411;p15"/>
          <p:cNvGrpSpPr/>
          <p:nvPr/>
        </p:nvGrpSpPr>
        <p:grpSpPr>
          <a:xfrm>
            <a:off x="3230500" y="1444217"/>
            <a:ext cx="609600" cy="4819075"/>
            <a:chOff x="480" y="1152"/>
            <a:chExt cx="300" cy="3000"/>
          </a:xfrm>
        </p:grpSpPr>
        <p:cxnSp>
          <p:nvCxnSpPr>
            <p:cNvPr id="412" name="Google Shape;412;p15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13" name="Google Shape;413;p15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414" name="Google Shape;414;p15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5" name="Google Shape;415;p15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6" name="Google Shape;416;p15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7" name="Google Shape;417;p15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8" name="Google Shape;418;p15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9" name="Google Shape;419;p15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0" name="Google Shape;420;p15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1" name="Google Shape;421;p15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22" name="Google Shape;422;p15"/>
          <p:cNvGrpSpPr/>
          <p:nvPr/>
        </p:nvGrpSpPr>
        <p:grpSpPr>
          <a:xfrm>
            <a:off x="3847625" y="1435467"/>
            <a:ext cx="609600" cy="4819075"/>
            <a:chOff x="480" y="1152"/>
            <a:chExt cx="300" cy="3000"/>
          </a:xfrm>
        </p:grpSpPr>
        <p:cxnSp>
          <p:nvCxnSpPr>
            <p:cNvPr id="423" name="Google Shape;423;p15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24" name="Google Shape;424;p15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425" name="Google Shape;425;p15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6" name="Google Shape;426;p15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7" name="Google Shape;427;p15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8" name="Google Shape;428;p15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9" name="Google Shape;429;p15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0" name="Google Shape;430;p15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1" name="Google Shape;431;p15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2" name="Google Shape;432;p15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33" name="Google Shape;433;p15"/>
          <p:cNvGrpSpPr/>
          <p:nvPr/>
        </p:nvGrpSpPr>
        <p:grpSpPr>
          <a:xfrm>
            <a:off x="4464750" y="1439842"/>
            <a:ext cx="609600" cy="4819075"/>
            <a:chOff x="480" y="1152"/>
            <a:chExt cx="300" cy="3000"/>
          </a:xfrm>
        </p:grpSpPr>
        <p:cxnSp>
          <p:nvCxnSpPr>
            <p:cNvPr id="434" name="Google Shape;434;p15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5" name="Google Shape;435;p15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436" name="Google Shape;436;p15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7" name="Google Shape;437;p15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8" name="Google Shape;438;p15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9" name="Google Shape;439;p15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0" name="Google Shape;440;p15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1" name="Google Shape;441;p15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2" name="Google Shape;442;p15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3" name="Google Shape;443;p15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44" name="Google Shape;444;p15"/>
          <p:cNvGrpSpPr/>
          <p:nvPr/>
        </p:nvGrpSpPr>
        <p:grpSpPr>
          <a:xfrm>
            <a:off x="5074350" y="1439842"/>
            <a:ext cx="609600" cy="4819075"/>
            <a:chOff x="480" y="1152"/>
            <a:chExt cx="300" cy="3000"/>
          </a:xfrm>
        </p:grpSpPr>
        <p:cxnSp>
          <p:nvCxnSpPr>
            <p:cNvPr id="445" name="Google Shape;445;p15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6" name="Google Shape;446;p15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447" name="Google Shape;447;p15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8" name="Google Shape;448;p15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9" name="Google Shape;449;p15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0" name="Google Shape;450;p15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1" name="Google Shape;451;p15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2" name="Google Shape;452;p15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3" name="Google Shape;453;p15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4" name="Google Shape;454;p15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55" name="Google Shape;455;p15"/>
          <p:cNvGrpSpPr/>
          <p:nvPr/>
        </p:nvGrpSpPr>
        <p:grpSpPr>
          <a:xfrm>
            <a:off x="5691475" y="1439842"/>
            <a:ext cx="609600" cy="4819075"/>
            <a:chOff x="480" y="1152"/>
            <a:chExt cx="300" cy="3000"/>
          </a:xfrm>
        </p:grpSpPr>
        <p:cxnSp>
          <p:nvCxnSpPr>
            <p:cNvPr id="456" name="Google Shape;456;p15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7" name="Google Shape;457;p15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458" name="Google Shape;458;p15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9" name="Google Shape;459;p15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0" name="Google Shape;460;p15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1" name="Google Shape;461;p15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2" name="Google Shape;462;p15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3" name="Google Shape;463;p15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4" name="Google Shape;464;p15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5" name="Google Shape;465;p15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66" name="Google Shape;466;p15"/>
          <p:cNvGrpSpPr/>
          <p:nvPr/>
        </p:nvGrpSpPr>
        <p:grpSpPr>
          <a:xfrm>
            <a:off x="6308600" y="1448592"/>
            <a:ext cx="609600" cy="4819075"/>
            <a:chOff x="480" y="1152"/>
            <a:chExt cx="300" cy="3000"/>
          </a:xfrm>
        </p:grpSpPr>
        <p:cxnSp>
          <p:nvCxnSpPr>
            <p:cNvPr id="467" name="Google Shape;467;p15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68" name="Google Shape;468;p15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469" name="Google Shape;469;p15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0" name="Google Shape;470;p15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1" name="Google Shape;471;p15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2" name="Google Shape;472;p15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3" name="Google Shape;473;p15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4" name="Google Shape;474;p15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5" name="Google Shape;475;p15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6" name="Google Shape;476;p15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77" name="Google Shape;477;p15"/>
          <p:cNvGrpSpPr/>
          <p:nvPr/>
        </p:nvGrpSpPr>
        <p:grpSpPr>
          <a:xfrm>
            <a:off x="6925725" y="1439842"/>
            <a:ext cx="609600" cy="4819075"/>
            <a:chOff x="480" y="1152"/>
            <a:chExt cx="300" cy="3000"/>
          </a:xfrm>
        </p:grpSpPr>
        <p:cxnSp>
          <p:nvCxnSpPr>
            <p:cNvPr id="478" name="Google Shape;478;p15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9" name="Google Shape;479;p15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480" name="Google Shape;480;p15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1" name="Google Shape;481;p15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2" name="Google Shape;482;p15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3" name="Google Shape;483;p15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4" name="Google Shape;484;p15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5" name="Google Shape;485;p15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6" name="Google Shape;486;p15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7" name="Google Shape;487;p15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88" name="Google Shape;488;p15"/>
          <p:cNvGrpSpPr/>
          <p:nvPr/>
        </p:nvGrpSpPr>
        <p:grpSpPr>
          <a:xfrm>
            <a:off x="7542850" y="1448592"/>
            <a:ext cx="609600" cy="4819075"/>
            <a:chOff x="480" y="1152"/>
            <a:chExt cx="300" cy="3000"/>
          </a:xfrm>
        </p:grpSpPr>
        <p:cxnSp>
          <p:nvCxnSpPr>
            <p:cNvPr id="489" name="Google Shape;489;p15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90" name="Google Shape;490;p15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491" name="Google Shape;491;p15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2" name="Google Shape;492;p15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3" name="Google Shape;493;p15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4" name="Google Shape;494;p15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5" name="Google Shape;495;p15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6" name="Google Shape;496;p15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7" name="Google Shape;497;p15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8" name="Google Shape;498;p15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99" name="Google Shape;499;p15"/>
          <p:cNvGrpSpPr/>
          <p:nvPr/>
        </p:nvGrpSpPr>
        <p:grpSpPr>
          <a:xfrm>
            <a:off x="1996250" y="1435467"/>
            <a:ext cx="609600" cy="4819075"/>
            <a:chOff x="480" y="1152"/>
            <a:chExt cx="300" cy="3000"/>
          </a:xfrm>
        </p:grpSpPr>
        <p:cxnSp>
          <p:nvCxnSpPr>
            <p:cNvPr id="500" name="Google Shape;500;p15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01" name="Google Shape;501;p15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76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5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502" name="Google Shape;502;p15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3" name="Google Shape;503;p15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4" name="Google Shape;504;p15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5" name="Google Shape;505;p15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6" name="Google Shape;506;p15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7" name="Google Shape;507;p15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8" name="Google Shape;508;p15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9" name="Google Shape;509;p15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6"/>
          <p:cNvSpPr txBox="1"/>
          <p:nvPr/>
        </p:nvSpPr>
        <p:spPr>
          <a:xfrm>
            <a:off x="20275" y="-21950"/>
            <a:ext cx="85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 the heapsort algorithm manually by sorting the following 9 element array:</a:t>
            </a:r>
            <a:endParaRPr/>
          </a:p>
        </p:txBody>
      </p:sp>
      <p:sp>
        <p:nvSpPr>
          <p:cNvPr id="515" name="Google Shape;515;p16"/>
          <p:cNvSpPr txBox="1"/>
          <p:nvPr/>
        </p:nvSpPr>
        <p:spPr>
          <a:xfrm>
            <a:off x="-3" y="224480"/>
            <a:ext cx="8232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Data: [5, 22, 9, …, 28]  // the “elements” in the first column of below table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all steps (Use an application of choice to complete the assignment)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into a heap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Sort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228600" y="1517542"/>
            <a:ext cx="547800" cy="4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[ 0 ]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[ 1 ]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[ 2 ]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[ 3 ]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[ 4 ]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[ 5 ]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[ 6 ]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[ 7 ]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[ 8 ]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[ 9 ]</a:t>
            </a:r>
            <a:endParaRPr/>
          </a:p>
        </p:txBody>
      </p:sp>
      <p:grpSp>
        <p:nvGrpSpPr>
          <p:cNvPr id="517" name="Google Shape;517;p16"/>
          <p:cNvGrpSpPr/>
          <p:nvPr/>
        </p:nvGrpSpPr>
        <p:grpSpPr>
          <a:xfrm>
            <a:off x="762000" y="1441342"/>
            <a:ext cx="609600" cy="4762500"/>
            <a:chOff x="480" y="1152"/>
            <a:chExt cx="300" cy="3000"/>
          </a:xfrm>
        </p:grpSpPr>
        <p:cxnSp>
          <p:nvCxnSpPr>
            <p:cNvPr id="518" name="Google Shape;518;p16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9" name="Google Shape;519;p16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b="1" sz="1600">
                <a:solidFill>
                  <a:schemeClr val="dk1"/>
                </a:solidFill>
              </a:endParaRPr>
            </a:p>
          </p:txBody>
        </p:sp>
        <p:cxnSp>
          <p:nvCxnSpPr>
            <p:cNvPr id="520" name="Google Shape;520;p16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1" name="Google Shape;521;p16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2" name="Google Shape;522;p16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3" name="Google Shape;523;p16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4" name="Google Shape;524;p16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5" name="Google Shape;525;p16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6" name="Google Shape;526;p16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7" name="Google Shape;527;p16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28" name="Google Shape;528;p16"/>
          <p:cNvSpPr txBox="1"/>
          <p:nvPr/>
        </p:nvSpPr>
        <p:spPr>
          <a:xfrm>
            <a:off x="7252900" y="625001"/>
            <a:ext cx="1274700" cy="554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</a:pPr>
            <a:r>
              <a:rPr b="1" i="1" lang="en-US" sz="1800">
                <a:solidFill>
                  <a:srgbClr val="FFFF00"/>
                </a:solidFill>
              </a:rPr>
              <a:t>Sort Pass 3</a:t>
            </a:r>
            <a:endParaRPr/>
          </a:p>
        </p:txBody>
      </p:sp>
      <p:grpSp>
        <p:nvGrpSpPr>
          <p:cNvPr id="529" name="Google Shape;529;p16"/>
          <p:cNvGrpSpPr/>
          <p:nvPr/>
        </p:nvGrpSpPr>
        <p:grpSpPr>
          <a:xfrm>
            <a:off x="1386650" y="1435467"/>
            <a:ext cx="609600" cy="4819075"/>
            <a:chOff x="480" y="1152"/>
            <a:chExt cx="300" cy="3000"/>
          </a:xfrm>
        </p:grpSpPr>
        <p:cxnSp>
          <p:nvCxnSpPr>
            <p:cNvPr id="530" name="Google Shape;530;p16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1" name="Google Shape;531;p16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22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76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532" name="Google Shape;532;p16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3" name="Google Shape;533;p16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4" name="Google Shape;534;p16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5" name="Google Shape;535;p16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6" name="Google Shape;536;p16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7" name="Google Shape;537;p16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8" name="Google Shape;538;p16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9" name="Google Shape;539;p16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40" name="Google Shape;540;p16"/>
          <p:cNvSpPr txBox="1"/>
          <p:nvPr/>
        </p:nvSpPr>
        <p:spPr>
          <a:xfrm>
            <a:off x="8376263" y="1517538"/>
            <a:ext cx="467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we swap 76 with 22 and then heapify with children 63 and 54.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41" name="Google Shape;541;p16"/>
          <p:cNvGrpSpPr/>
          <p:nvPr/>
        </p:nvGrpSpPr>
        <p:grpSpPr>
          <a:xfrm>
            <a:off x="2613375" y="1435467"/>
            <a:ext cx="609600" cy="4819075"/>
            <a:chOff x="480" y="1152"/>
            <a:chExt cx="300" cy="3000"/>
          </a:xfrm>
        </p:grpSpPr>
        <p:cxnSp>
          <p:nvCxnSpPr>
            <p:cNvPr id="542" name="Google Shape;542;p16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43" name="Google Shape;543;p16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544" name="Google Shape;544;p16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5" name="Google Shape;545;p16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6" name="Google Shape;546;p16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7" name="Google Shape;547;p16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8" name="Google Shape;548;p16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9" name="Google Shape;549;p16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0" name="Google Shape;550;p16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1" name="Google Shape;551;p16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52" name="Google Shape;552;p16"/>
          <p:cNvGrpSpPr/>
          <p:nvPr/>
        </p:nvGrpSpPr>
        <p:grpSpPr>
          <a:xfrm>
            <a:off x="3230500" y="1444217"/>
            <a:ext cx="609600" cy="4819075"/>
            <a:chOff x="480" y="1152"/>
            <a:chExt cx="300" cy="3000"/>
          </a:xfrm>
        </p:grpSpPr>
        <p:cxnSp>
          <p:nvCxnSpPr>
            <p:cNvPr id="553" name="Google Shape;553;p16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4" name="Google Shape;554;p16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555" name="Google Shape;555;p16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6" name="Google Shape;556;p16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7" name="Google Shape;557;p16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8" name="Google Shape;558;p16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9" name="Google Shape;559;p16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0" name="Google Shape;560;p16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1" name="Google Shape;561;p16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2" name="Google Shape;562;p16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63" name="Google Shape;563;p16"/>
          <p:cNvGrpSpPr/>
          <p:nvPr/>
        </p:nvGrpSpPr>
        <p:grpSpPr>
          <a:xfrm>
            <a:off x="3847625" y="1435467"/>
            <a:ext cx="609600" cy="4819075"/>
            <a:chOff x="480" y="1152"/>
            <a:chExt cx="300" cy="3000"/>
          </a:xfrm>
        </p:grpSpPr>
        <p:cxnSp>
          <p:nvCxnSpPr>
            <p:cNvPr id="564" name="Google Shape;564;p16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5" name="Google Shape;565;p16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566" name="Google Shape;566;p16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7" name="Google Shape;567;p16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8" name="Google Shape;568;p16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9" name="Google Shape;569;p16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0" name="Google Shape;570;p16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1" name="Google Shape;571;p16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2" name="Google Shape;572;p16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3" name="Google Shape;573;p16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74" name="Google Shape;574;p16"/>
          <p:cNvGrpSpPr/>
          <p:nvPr/>
        </p:nvGrpSpPr>
        <p:grpSpPr>
          <a:xfrm>
            <a:off x="4464750" y="1439842"/>
            <a:ext cx="609600" cy="4819075"/>
            <a:chOff x="480" y="1152"/>
            <a:chExt cx="300" cy="3000"/>
          </a:xfrm>
        </p:grpSpPr>
        <p:cxnSp>
          <p:nvCxnSpPr>
            <p:cNvPr id="575" name="Google Shape;575;p16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6" name="Google Shape;576;p16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577" name="Google Shape;577;p16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8" name="Google Shape;578;p16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9" name="Google Shape;579;p16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0" name="Google Shape;580;p16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1" name="Google Shape;581;p16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2" name="Google Shape;582;p16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3" name="Google Shape;583;p16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4" name="Google Shape;584;p16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85" name="Google Shape;585;p16"/>
          <p:cNvGrpSpPr/>
          <p:nvPr/>
        </p:nvGrpSpPr>
        <p:grpSpPr>
          <a:xfrm>
            <a:off x="5074350" y="1439842"/>
            <a:ext cx="609600" cy="4819075"/>
            <a:chOff x="480" y="1152"/>
            <a:chExt cx="300" cy="3000"/>
          </a:xfrm>
        </p:grpSpPr>
        <p:cxnSp>
          <p:nvCxnSpPr>
            <p:cNvPr id="586" name="Google Shape;586;p16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7" name="Google Shape;587;p16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588" name="Google Shape;588;p16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9" name="Google Shape;589;p16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0" name="Google Shape;590;p16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1" name="Google Shape;591;p16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2" name="Google Shape;592;p16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3" name="Google Shape;593;p16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4" name="Google Shape;594;p16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5" name="Google Shape;595;p16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96" name="Google Shape;596;p16"/>
          <p:cNvGrpSpPr/>
          <p:nvPr/>
        </p:nvGrpSpPr>
        <p:grpSpPr>
          <a:xfrm>
            <a:off x="5691475" y="1439842"/>
            <a:ext cx="609600" cy="4819075"/>
            <a:chOff x="480" y="1152"/>
            <a:chExt cx="300" cy="3000"/>
          </a:xfrm>
        </p:grpSpPr>
        <p:cxnSp>
          <p:nvCxnSpPr>
            <p:cNvPr id="597" name="Google Shape;597;p16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98" name="Google Shape;598;p16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599" name="Google Shape;599;p16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0" name="Google Shape;600;p16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1" name="Google Shape;601;p16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2" name="Google Shape;602;p16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3" name="Google Shape;603;p16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4" name="Google Shape;604;p16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5" name="Google Shape;605;p16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6" name="Google Shape;606;p16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07" name="Google Shape;607;p16"/>
          <p:cNvGrpSpPr/>
          <p:nvPr/>
        </p:nvGrpSpPr>
        <p:grpSpPr>
          <a:xfrm>
            <a:off x="6308600" y="1448592"/>
            <a:ext cx="609600" cy="4819075"/>
            <a:chOff x="480" y="1152"/>
            <a:chExt cx="300" cy="3000"/>
          </a:xfrm>
        </p:grpSpPr>
        <p:cxnSp>
          <p:nvCxnSpPr>
            <p:cNvPr id="608" name="Google Shape;608;p16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9" name="Google Shape;609;p16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610" name="Google Shape;610;p16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1" name="Google Shape;611;p16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2" name="Google Shape;612;p16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3" name="Google Shape;613;p16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4" name="Google Shape;614;p16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5" name="Google Shape;615;p16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6" name="Google Shape;616;p16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7" name="Google Shape;617;p16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18" name="Google Shape;618;p16"/>
          <p:cNvGrpSpPr/>
          <p:nvPr/>
        </p:nvGrpSpPr>
        <p:grpSpPr>
          <a:xfrm>
            <a:off x="6925725" y="1439842"/>
            <a:ext cx="609600" cy="4819075"/>
            <a:chOff x="480" y="1152"/>
            <a:chExt cx="300" cy="3000"/>
          </a:xfrm>
        </p:grpSpPr>
        <p:cxnSp>
          <p:nvCxnSpPr>
            <p:cNvPr id="619" name="Google Shape;619;p16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0" name="Google Shape;620;p16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621" name="Google Shape;621;p16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2" name="Google Shape;622;p16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3" name="Google Shape;623;p16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4" name="Google Shape;624;p16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5" name="Google Shape;625;p16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6" name="Google Shape;626;p16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7" name="Google Shape;627;p16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8" name="Google Shape;628;p16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29" name="Google Shape;629;p16"/>
          <p:cNvGrpSpPr/>
          <p:nvPr/>
        </p:nvGrpSpPr>
        <p:grpSpPr>
          <a:xfrm>
            <a:off x="7542850" y="1448592"/>
            <a:ext cx="609600" cy="4819075"/>
            <a:chOff x="480" y="1152"/>
            <a:chExt cx="300" cy="3000"/>
          </a:xfrm>
        </p:grpSpPr>
        <p:cxnSp>
          <p:nvCxnSpPr>
            <p:cNvPr id="630" name="Google Shape;630;p16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1" name="Google Shape;631;p16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632" name="Google Shape;632;p16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3" name="Google Shape;633;p16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4" name="Google Shape;634;p16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5" name="Google Shape;635;p16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6" name="Google Shape;636;p16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7" name="Google Shape;637;p16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8" name="Google Shape;638;p16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9" name="Google Shape;639;p16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40" name="Google Shape;640;p16"/>
          <p:cNvGrpSpPr/>
          <p:nvPr/>
        </p:nvGrpSpPr>
        <p:grpSpPr>
          <a:xfrm>
            <a:off x="1996250" y="1435467"/>
            <a:ext cx="609600" cy="4819075"/>
            <a:chOff x="480" y="1152"/>
            <a:chExt cx="300" cy="3000"/>
          </a:xfrm>
        </p:grpSpPr>
        <p:cxnSp>
          <p:nvCxnSpPr>
            <p:cNvPr id="641" name="Google Shape;641;p16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42" name="Google Shape;642;p16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63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22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643" name="Google Shape;643;p16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4" name="Google Shape;644;p16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5" name="Google Shape;645;p16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6" name="Google Shape;646;p16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7" name="Google Shape;647;p16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8" name="Google Shape;648;p16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9" name="Google Shape;649;p16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0" name="Google Shape;650;p16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51" name="Google Shape;651;p16"/>
          <p:cNvSpPr/>
          <p:nvPr/>
        </p:nvSpPr>
        <p:spPr>
          <a:xfrm>
            <a:off x="2617138" y="1444155"/>
            <a:ext cx="609600" cy="4819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63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</a:rPr>
              <a:t>54</a:t>
            </a:r>
            <a:endParaRPr b="1" sz="1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48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</a:rPr>
              <a:t>22</a:t>
            </a:r>
            <a:endParaRPr b="1" sz="1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5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9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28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76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81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92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7"/>
          <p:cNvSpPr txBox="1"/>
          <p:nvPr/>
        </p:nvSpPr>
        <p:spPr>
          <a:xfrm>
            <a:off x="20275" y="-21950"/>
            <a:ext cx="85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 the heapsort algorithm manually by sorting the following 9 element array:</a:t>
            </a:r>
            <a:endParaRPr/>
          </a:p>
        </p:txBody>
      </p:sp>
      <p:sp>
        <p:nvSpPr>
          <p:cNvPr id="657" name="Google Shape;657;p17"/>
          <p:cNvSpPr txBox="1"/>
          <p:nvPr/>
        </p:nvSpPr>
        <p:spPr>
          <a:xfrm>
            <a:off x="-3" y="224480"/>
            <a:ext cx="8232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Data: [5, 22, 9, …, 28]  // the “elements” in the first column of below table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all steps (Use an application of choice to complete the assignment)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into a heap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Sort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58" name="Google Shape;658;p17"/>
          <p:cNvSpPr/>
          <p:nvPr/>
        </p:nvSpPr>
        <p:spPr>
          <a:xfrm>
            <a:off x="228600" y="1517542"/>
            <a:ext cx="547800" cy="4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[ 0 ]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[ 1 ]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[ 2 ]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[ 3 ]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[ 4 ]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[ 5 ]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[ 6 ]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[ 7 ]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[ 8 ]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[ 9 ]</a:t>
            </a:r>
            <a:endParaRPr/>
          </a:p>
        </p:txBody>
      </p:sp>
      <p:grpSp>
        <p:nvGrpSpPr>
          <p:cNvPr id="659" name="Google Shape;659;p17"/>
          <p:cNvGrpSpPr/>
          <p:nvPr/>
        </p:nvGrpSpPr>
        <p:grpSpPr>
          <a:xfrm>
            <a:off x="762000" y="1441342"/>
            <a:ext cx="609600" cy="4762500"/>
            <a:chOff x="480" y="1152"/>
            <a:chExt cx="300" cy="3000"/>
          </a:xfrm>
        </p:grpSpPr>
        <p:cxnSp>
          <p:nvCxnSpPr>
            <p:cNvPr id="660" name="Google Shape;660;p17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1" name="Google Shape;661;p17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b="1" sz="1600">
                <a:solidFill>
                  <a:schemeClr val="dk1"/>
                </a:solidFill>
              </a:endParaRPr>
            </a:p>
          </p:txBody>
        </p:sp>
        <p:cxnSp>
          <p:nvCxnSpPr>
            <p:cNvPr id="662" name="Google Shape;662;p17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3" name="Google Shape;663;p17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4" name="Google Shape;664;p17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5" name="Google Shape;665;p17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6" name="Google Shape;666;p17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7" name="Google Shape;667;p17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8" name="Google Shape;668;p17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9" name="Google Shape;669;p17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70" name="Google Shape;670;p17"/>
          <p:cNvSpPr txBox="1"/>
          <p:nvPr/>
        </p:nvSpPr>
        <p:spPr>
          <a:xfrm>
            <a:off x="7252900" y="625001"/>
            <a:ext cx="1274700" cy="554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</a:pPr>
            <a:r>
              <a:rPr b="1" i="1" lang="en-US" sz="1800">
                <a:solidFill>
                  <a:srgbClr val="FFFF00"/>
                </a:solidFill>
              </a:rPr>
              <a:t>Sort Pass 4</a:t>
            </a:r>
            <a:endParaRPr/>
          </a:p>
        </p:txBody>
      </p:sp>
      <p:grpSp>
        <p:nvGrpSpPr>
          <p:cNvPr id="671" name="Google Shape;671;p17"/>
          <p:cNvGrpSpPr/>
          <p:nvPr/>
        </p:nvGrpSpPr>
        <p:grpSpPr>
          <a:xfrm>
            <a:off x="1386650" y="1435467"/>
            <a:ext cx="609600" cy="4819075"/>
            <a:chOff x="480" y="1152"/>
            <a:chExt cx="300" cy="3000"/>
          </a:xfrm>
        </p:grpSpPr>
        <p:cxnSp>
          <p:nvCxnSpPr>
            <p:cNvPr id="672" name="Google Shape;672;p17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3" name="Google Shape;673;p17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28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63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674" name="Google Shape;674;p17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5" name="Google Shape;675;p17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6" name="Google Shape;676;p17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7" name="Google Shape;677;p17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8" name="Google Shape;678;p17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9" name="Google Shape;679;p17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0" name="Google Shape;680;p17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1" name="Google Shape;681;p17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82" name="Google Shape;682;p17"/>
          <p:cNvSpPr txBox="1"/>
          <p:nvPr/>
        </p:nvSpPr>
        <p:spPr>
          <a:xfrm>
            <a:off x="8376263" y="1517538"/>
            <a:ext cx="46776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swapping 63 and 28, we heapify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with the child 54, as 22 is smaller than 28.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83" name="Google Shape;683;p17"/>
          <p:cNvGrpSpPr/>
          <p:nvPr/>
        </p:nvGrpSpPr>
        <p:grpSpPr>
          <a:xfrm>
            <a:off x="2613375" y="1435467"/>
            <a:ext cx="609600" cy="4819075"/>
            <a:chOff x="480" y="1152"/>
            <a:chExt cx="300" cy="3000"/>
          </a:xfrm>
        </p:grpSpPr>
        <p:cxnSp>
          <p:nvCxnSpPr>
            <p:cNvPr id="684" name="Google Shape;684;p17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85" name="Google Shape;685;p17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686" name="Google Shape;686;p17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7" name="Google Shape;687;p17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8" name="Google Shape;688;p17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9" name="Google Shape;689;p17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0" name="Google Shape;690;p17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1" name="Google Shape;691;p17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2" name="Google Shape;692;p17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3" name="Google Shape;693;p17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94" name="Google Shape;694;p17"/>
          <p:cNvGrpSpPr/>
          <p:nvPr/>
        </p:nvGrpSpPr>
        <p:grpSpPr>
          <a:xfrm>
            <a:off x="3230500" y="1444217"/>
            <a:ext cx="609600" cy="4819075"/>
            <a:chOff x="480" y="1152"/>
            <a:chExt cx="300" cy="3000"/>
          </a:xfrm>
        </p:grpSpPr>
        <p:cxnSp>
          <p:nvCxnSpPr>
            <p:cNvPr id="695" name="Google Shape;695;p17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6" name="Google Shape;696;p17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697" name="Google Shape;697;p17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8" name="Google Shape;698;p17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9" name="Google Shape;699;p17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0" name="Google Shape;700;p17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1" name="Google Shape;701;p17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2" name="Google Shape;702;p17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3" name="Google Shape;703;p17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4" name="Google Shape;704;p17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05" name="Google Shape;705;p17"/>
          <p:cNvGrpSpPr/>
          <p:nvPr/>
        </p:nvGrpSpPr>
        <p:grpSpPr>
          <a:xfrm>
            <a:off x="3847625" y="1435467"/>
            <a:ext cx="609600" cy="4819075"/>
            <a:chOff x="480" y="1152"/>
            <a:chExt cx="300" cy="3000"/>
          </a:xfrm>
        </p:grpSpPr>
        <p:cxnSp>
          <p:nvCxnSpPr>
            <p:cNvPr id="706" name="Google Shape;706;p17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07" name="Google Shape;707;p17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708" name="Google Shape;708;p17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9" name="Google Shape;709;p17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0" name="Google Shape;710;p17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1" name="Google Shape;711;p17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2" name="Google Shape;712;p17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3" name="Google Shape;713;p17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4" name="Google Shape;714;p17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5" name="Google Shape;715;p17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16" name="Google Shape;716;p17"/>
          <p:cNvGrpSpPr/>
          <p:nvPr/>
        </p:nvGrpSpPr>
        <p:grpSpPr>
          <a:xfrm>
            <a:off x="4464750" y="1439842"/>
            <a:ext cx="609600" cy="4819075"/>
            <a:chOff x="480" y="1152"/>
            <a:chExt cx="300" cy="3000"/>
          </a:xfrm>
        </p:grpSpPr>
        <p:cxnSp>
          <p:nvCxnSpPr>
            <p:cNvPr id="717" name="Google Shape;717;p17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8" name="Google Shape;718;p17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719" name="Google Shape;719;p17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0" name="Google Shape;720;p17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1" name="Google Shape;721;p17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2" name="Google Shape;722;p17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3" name="Google Shape;723;p17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4" name="Google Shape;724;p17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5" name="Google Shape;725;p17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6" name="Google Shape;726;p17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27" name="Google Shape;727;p17"/>
          <p:cNvGrpSpPr/>
          <p:nvPr/>
        </p:nvGrpSpPr>
        <p:grpSpPr>
          <a:xfrm>
            <a:off x="5074350" y="1439842"/>
            <a:ext cx="609600" cy="4819075"/>
            <a:chOff x="480" y="1152"/>
            <a:chExt cx="300" cy="3000"/>
          </a:xfrm>
        </p:grpSpPr>
        <p:cxnSp>
          <p:nvCxnSpPr>
            <p:cNvPr id="728" name="Google Shape;728;p17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29" name="Google Shape;729;p17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730" name="Google Shape;730;p17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1" name="Google Shape;731;p17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2" name="Google Shape;732;p17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3" name="Google Shape;733;p17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4" name="Google Shape;734;p17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5" name="Google Shape;735;p17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6" name="Google Shape;736;p17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7" name="Google Shape;737;p17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38" name="Google Shape;738;p17"/>
          <p:cNvGrpSpPr/>
          <p:nvPr/>
        </p:nvGrpSpPr>
        <p:grpSpPr>
          <a:xfrm>
            <a:off x="5691475" y="1439842"/>
            <a:ext cx="609600" cy="4819075"/>
            <a:chOff x="480" y="1152"/>
            <a:chExt cx="300" cy="3000"/>
          </a:xfrm>
        </p:grpSpPr>
        <p:cxnSp>
          <p:nvCxnSpPr>
            <p:cNvPr id="739" name="Google Shape;739;p17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40" name="Google Shape;740;p17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741" name="Google Shape;741;p17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2" name="Google Shape;742;p17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3" name="Google Shape;743;p17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4" name="Google Shape;744;p17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5" name="Google Shape;745;p17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6" name="Google Shape;746;p17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7" name="Google Shape;747;p17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8" name="Google Shape;748;p17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49" name="Google Shape;749;p17"/>
          <p:cNvGrpSpPr/>
          <p:nvPr/>
        </p:nvGrpSpPr>
        <p:grpSpPr>
          <a:xfrm>
            <a:off x="6308600" y="1448592"/>
            <a:ext cx="609600" cy="4819075"/>
            <a:chOff x="480" y="1152"/>
            <a:chExt cx="300" cy="3000"/>
          </a:xfrm>
        </p:grpSpPr>
        <p:cxnSp>
          <p:nvCxnSpPr>
            <p:cNvPr id="750" name="Google Shape;750;p17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1" name="Google Shape;751;p17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752" name="Google Shape;752;p17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3" name="Google Shape;753;p17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4" name="Google Shape;754;p17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5" name="Google Shape;755;p17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6" name="Google Shape;756;p17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7" name="Google Shape;757;p17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8" name="Google Shape;758;p17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9" name="Google Shape;759;p17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60" name="Google Shape;760;p17"/>
          <p:cNvGrpSpPr/>
          <p:nvPr/>
        </p:nvGrpSpPr>
        <p:grpSpPr>
          <a:xfrm>
            <a:off x="6925725" y="1439842"/>
            <a:ext cx="609600" cy="4819075"/>
            <a:chOff x="480" y="1152"/>
            <a:chExt cx="300" cy="3000"/>
          </a:xfrm>
        </p:grpSpPr>
        <p:cxnSp>
          <p:nvCxnSpPr>
            <p:cNvPr id="761" name="Google Shape;761;p17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2" name="Google Shape;762;p17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763" name="Google Shape;763;p17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4" name="Google Shape;764;p17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5" name="Google Shape;765;p17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6" name="Google Shape;766;p17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7" name="Google Shape;767;p17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8" name="Google Shape;768;p17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9" name="Google Shape;769;p17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0" name="Google Shape;770;p17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71" name="Google Shape;771;p17"/>
          <p:cNvGrpSpPr/>
          <p:nvPr/>
        </p:nvGrpSpPr>
        <p:grpSpPr>
          <a:xfrm>
            <a:off x="7542850" y="1448592"/>
            <a:ext cx="609600" cy="4819075"/>
            <a:chOff x="480" y="1152"/>
            <a:chExt cx="300" cy="3000"/>
          </a:xfrm>
        </p:grpSpPr>
        <p:cxnSp>
          <p:nvCxnSpPr>
            <p:cNvPr id="772" name="Google Shape;772;p17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3" name="Google Shape;773;p17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774" name="Google Shape;774;p17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5" name="Google Shape;775;p17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6" name="Google Shape;776;p17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7" name="Google Shape;777;p17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8" name="Google Shape;778;p17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9" name="Google Shape;779;p17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0" name="Google Shape;780;p17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1" name="Google Shape;781;p17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82" name="Google Shape;782;p17"/>
          <p:cNvGrpSpPr/>
          <p:nvPr/>
        </p:nvGrpSpPr>
        <p:grpSpPr>
          <a:xfrm>
            <a:off x="1996250" y="1435467"/>
            <a:ext cx="609600" cy="4819075"/>
            <a:chOff x="480" y="1152"/>
            <a:chExt cx="300" cy="3000"/>
          </a:xfrm>
        </p:grpSpPr>
        <p:cxnSp>
          <p:nvCxnSpPr>
            <p:cNvPr id="783" name="Google Shape;783;p17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84" name="Google Shape;784;p17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785" name="Google Shape;785;p17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6" name="Google Shape;786;p17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7" name="Google Shape;787;p17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8" name="Google Shape;788;p17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9" name="Google Shape;789;p17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0" name="Google Shape;790;p17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1" name="Google Shape;791;p17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2" name="Google Shape;792;p17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93" name="Google Shape;793;p17"/>
          <p:cNvSpPr/>
          <p:nvPr/>
        </p:nvSpPr>
        <p:spPr>
          <a:xfrm>
            <a:off x="2617138" y="1444155"/>
            <a:ext cx="609600" cy="4819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94" name="Google Shape;794;p17"/>
          <p:cNvSpPr/>
          <p:nvPr/>
        </p:nvSpPr>
        <p:spPr>
          <a:xfrm>
            <a:off x="2011300" y="1444142"/>
            <a:ext cx="609600" cy="4819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</a:rPr>
              <a:t>54</a:t>
            </a:r>
            <a:endParaRPr b="1" sz="1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</a:rPr>
              <a:t>28</a:t>
            </a:r>
            <a:endParaRPr b="1" sz="1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48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22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5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9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63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76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81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92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8"/>
          <p:cNvSpPr txBox="1"/>
          <p:nvPr/>
        </p:nvSpPr>
        <p:spPr>
          <a:xfrm>
            <a:off x="20275" y="-21950"/>
            <a:ext cx="85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 the heapsort algorithm manually by sorting the following 9 element array:</a:t>
            </a:r>
            <a:endParaRPr/>
          </a:p>
        </p:txBody>
      </p:sp>
      <p:sp>
        <p:nvSpPr>
          <p:cNvPr id="800" name="Google Shape;800;p18"/>
          <p:cNvSpPr txBox="1"/>
          <p:nvPr/>
        </p:nvSpPr>
        <p:spPr>
          <a:xfrm>
            <a:off x="-3" y="224480"/>
            <a:ext cx="8232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Data: [5, 22, 9, …, 28]  // the “elements” in the first column of below table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all steps (Use an application of choice to complete the assignment)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into a heap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Sort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801" name="Google Shape;801;p18"/>
          <p:cNvSpPr/>
          <p:nvPr/>
        </p:nvSpPr>
        <p:spPr>
          <a:xfrm>
            <a:off x="228600" y="1517542"/>
            <a:ext cx="547800" cy="4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[ 0 ]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[ 1 ]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[ 2 ]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[ 3 ]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[ 4 ]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[ 5 ]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[ 6 ]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[ 7 ]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[ 8 ]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[ 9 ]</a:t>
            </a:r>
            <a:endParaRPr/>
          </a:p>
        </p:txBody>
      </p:sp>
      <p:grpSp>
        <p:nvGrpSpPr>
          <p:cNvPr id="802" name="Google Shape;802;p18"/>
          <p:cNvGrpSpPr/>
          <p:nvPr/>
        </p:nvGrpSpPr>
        <p:grpSpPr>
          <a:xfrm>
            <a:off x="762000" y="1441342"/>
            <a:ext cx="609600" cy="4762500"/>
            <a:chOff x="480" y="1152"/>
            <a:chExt cx="300" cy="3000"/>
          </a:xfrm>
        </p:grpSpPr>
        <p:cxnSp>
          <p:nvCxnSpPr>
            <p:cNvPr id="803" name="Google Shape;803;p18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4" name="Google Shape;804;p18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b="1" sz="1600">
                <a:solidFill>
                  <a:schemeClr val="dk1"/>
                </a:solidFill>
              </a:endParaRPr>
            </a:p>
          </p:txBody>
        </p:sp>
        <p:cxnSp>
          <p:nvCxnSpPr>
            <p:cNvPr id="805" name="Google Shape;805;p18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6" name="Google Shape;806;p18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7" name="Google Shape;807;p18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8" name="Google Shape;808;p18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9" name="Google Shape;809;p18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0" name="Google Shape;810;p18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1" name="Google Shape;811;p18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2" name="Google Shape;812;p18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13" name="Google Shape;813;p18"/>
          <p:cNvSpPr txBox="1"/>
          <p:nvPr/>
        </p:nvSpPr>
        <p:spPr>
          <a:xfrm>
            <a:off x="7252900" y="625001"/>
            <a:ext cx="1274700" cy="554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</a:pPr>
            <a:r>
              <a:rPr b="1" i="1" lang="en-US" sz="1800">
                <a:solidFill>
                  <a:srgbClr val="FFFF00"/>
                </a:solidFill>
              </a:rPr>
              <a:t>Sort Pass 5</a:t>
            </a:r>
            <a:endParaRPr/>
          </a:p>
        </p:txBody>
      </p:sp>
      <p:grpSp>
        <p:nvGrpSpPr>
          <p:cNvPr id="814" name="Google Shape;814;p18"/>
          <p:cNvGrpSpPr/>
          <p:nvPr/>
        </p:nvGrpSpPr>
        <p:grpSpPr>
          <a:xfrm>
            <a:off x="1386650" y="1435467"/>
            <a:ext cx="609600" cy="4819075"/>
            <a:chOff x="480" y="1152"/>
            <a:chExt cx="300" cy="3000"/>
          </a:xfrm>
        </p:grpSpPr>
        <p:cxnSp>
          <p:nvCxnSpPr>
            <p:cNvPr id="815" name="Google Shape;815;p18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16" name="Google Shape;816;p18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9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54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817" name="Google Shape;817;p18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8" name="Google Shape;818;p18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9" name="Google Shape;819;p18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0" name="Google Shape;820;p18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1" name="Google Shape;821;p18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" name="Google Shape;822;p18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3" name="Google Shape;823;p18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4" name="Google Shape;824;p18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25" name="Google Shape;825;p18"/>
          <p:cNvSpPr txBox="1"/>
          <p:nvPr/>
        </p:nvSpPr>
        <p:spPr>
          <a:xfrm>
            <a:off x="8167500" y="1456801"/>
            <a:ext cx="4537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swapping 54 and 9, we heapify with the child 48, as 22 is already in place.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26" name="Google Shape;826;p18"/>
          <p:cNvGrpSpPr/>
          <p:nvPr/>
        </p:nvGrpSpPr>
        <p:grpSpPr>
          <a:xfrm>
            <a:off x="2613375" y="1435467"/>
            <a:ext cx="609600" cy="4819075"/>
            <a:chOff x="480" y="1152"/>
            <a:chExt cx="300" cy="3000"/>
          </a:xfrm>
        </p:grpSpPr>
        <p:cxnSp>
          <p:nvCxnSpPr>
            <p:cNvPr id="827" name="Google Shape;827;p18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8" name="Google Shape;828;p18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829" name="Google Shape;829;p18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0" name="Google Shape;830;p18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1" name="Google Shape;831;p18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2" name="Google Shape;832;p18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3" name="Google Shape;833;p18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4" name="Google Shape;834;p18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5" name="Google Shape;835;p18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6" name="Google Shape;836;p18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37" name="Google Shape;837;p18"/>
          <p:cNvGrpSpPr/>
          <p:nvPr/>
        </p:nvGrpSpPr>
        <p:grpSpPr>
          <a:xfrm>
            <a:off x="3230500" y="1444217"/>
            <a:ext cx="609600" cy="4819075"/>
            <a:chOff x="480" y="1152"/>
            <a:chExt cx="300" cy="3000"/>
          </a:xfrm>
        </p:grpSpPr>
        <p:cxnSp>
          <p:nvCxnSpPr>
            <p:cNvPr id="838" name="Google Shape;838;p18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39" name="Google Shape;839;p18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840" name="Google Shape;840;p18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1" name="Google Shape;841;p18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2" name="Google Shape;842;p18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3" name="Google Shape;843;p18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4" name="Google Shape;844;p18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5" name="Google Shape;845;p18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6" name="Google Shape;846;p18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7" name="Google Shape;847;p18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48" name="Google Shape;848;p18"/>
          <p:cNvGrpSpPr/>
          <p:nvPr/>
        </p:nvGrpSpPr>
        <p:grpSpPr>
          <a:xfrm>
            <a:off x="3847625" y="1435467"/>
            <a:ext cx="609600" cy="4819075"/>
            <a:chOff x="480" y="1152"/>
            <a:chExt cx="300" cy="3000"/>
          </a:xfrm>
        </p:grpSpPr>
        <p:cxnSp>
          <p:nvCxnSpPr>
            <p:cNvPr id="849" name="Google Shape;849;p18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0" name="Google Shape;850;p18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851" name="Google Shape;851;p18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2" name="Google Shape;852;p18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3" name="Google Shape;853;p18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4" name="Google Shape;854;p18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5" name="Google Shape;855;p18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6" name="Google Shape;856;p18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7" name="Google Shape;857;p18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8" name="Google Shape;858;p18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59" name="Google Shape;859;p18"/>
          <p:cNvGrpSpPr/>
          <p:nvPr/>
        </p:nvGrpSpPr>
        <p:grpSpPr>
          <a:xfrm>
            <a:off x="4464750" y="1439842"/>
            <a:ext cx="609600" cy="4819075"/>
            <a:chOff x="480" y="1152"/>
            <a:chExt cx="300" cy="3000"/>
          </a:xfrm>
        </p:grpSpPr>
        <p:cxnSp>
          <p:nvCxnSpPr>
            <p:cNvPr id="860" name="Google Shape;860;p18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1" name="Google Shape;861;p18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862" name="Google Shape;862;p18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3" name="Google Shape;863;p18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4" name="Google Shape;864;p18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5" name="Google Shape;865;p18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6" name="Google Shape;866;p18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7" name="Google Shape;867;p18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8" name="Google Shape;868;p18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9" name="Google Shape;869;p18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70" name="Google Shape;870;p18"/>
          <p:cNvGrpSpPr/>
          <p:nvPr/>
        </p:nvGrpSpPr>
        <p:grpSpPr>
          <a:xfrm>
            <a:off x="5074350" y="1439842"/>
            <a:ext cx="609600" cy="4819075"/>
            <a:chOff x="480" y="1152"/>
            <a:chExt cx="300" cy="3000"/>
          </a:xfrm>
        </p:grpSpPr>
        <p:cxnSp>
          <p:nvCxnSpPr>
            <p:cNvPr id="871" name="Google Shape;871;p18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72" name="Google Shape;872;p18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873" name="Google Shape;873;p18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4" name="Google Shape;874;p18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5" name="Google Shape;875;p18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6" name="Google Shape;876;p18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7" name="Google Shape;877;p18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8" name="Google Shape;878;p18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9" name="Google Shape;879;p18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0" name="Google Shape;880;p18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81" name="Google Shape;881;p18"/>
          <p:cNvGrpSpPr/>
          <p:nvPr/>
        </p:nvGrpSpPr>
        <p:grpSpPr>
          <a:xfrm>
            <a:off x="5691475" y="1439842"/>
            <a:ext cx="609600" cy="4819075"/>
            <a:chOff x="480" y="1152"/>
            <a:chExt cx="300" cy="3000"/>
          </a:xfrm>
        </p:grpSpPr>
        <p:cxnSp>
          <p:nvCxnSpPr>
            <p:cNvPr id="882" name="Google Shape;882;p18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83" name="Google Shape;883;p18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884" name="Google Shape;884;p18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5" name="Google Shape;885;p18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6" name="Google Shape;886;p18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7" name="Google Shape;887;p18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8" name="Google Shape;888;p18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9" name="Google Shape;889;p18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0" name="Google Shape;890;p18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1" name="Google Shape;891;p18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92" name="Google Shape;892;p18"/>
          <p:cNvGrpSpPr/>
          <p:nvPr/>
        </p:nvGrpSpPr>
        <p:grpSpPr>
          <a:xfrm>
            <a:off x="6308600" y="1448592"/>
            <a:ext cx="609600" cy="4819075"/>
            <a:chOff x="480" y="1152"/>
            <a:chExt cx="300" cy="3000"/>
          </a:xfrm>
        </p:grpSpPr>
        <p:cxnSp>
          <p:nvCxnSpPr>
            <p:cNvPr id="893" name="Google Shape;893;p18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94" name="Google Shape;894;p18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895" name="Google Shape;895;p18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6" name="Google Shape;896;p18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7" name="Google Shape;897;p18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8" name="Google Shape;898;p18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9" name="Google Shape;899;p18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0" name="Google Shape;900;p18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1" name="Google Shape;901;p18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2" name="Google Shape;902;p18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03" name="Google Shape;903;p18"/>
          <p:cNvGrpSpPr/>
          <p:nvPr/>
        </p:nvGrpSpPr>
        <p:grpSpPr>
          <a:xfrm>
            <a:off x="6925725" y="1439842"/>
            <a:ext cx="609600" cy="4819075"/>
            <a:chOff x="480" y="1152"/>
            <a:chExt cx="300" cy="3000"/>
          </a:xfrm>
        </p:grpSpPr>
        <p:cxnSp>
          <p:nvCxnSpPr>
            <p:cNvPr id="904" name="Google Shape;904;p18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05" name="Google Shape;905;p18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906" name="Google Shape;906;p18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7" name="Google Shape;907;p18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8" name="Google Shape;908;p18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9" name="Google Shape;909;p18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0" name="Google Shape;910;p18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1" name="Google Shape;911;p18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2" name="Google Shape;912;p18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3" name="Google Shape;913;p18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14" name="Google Shape;914;p18"/>
          <p:cNvGrpSpPr/>
          <p:nvPr/>
        </p:nvGrpSpPr>
        <p:grpSpPr>
          <a:xfrm>
            <a:off x="7542850" y="1448592"/>
            <a:ext cx="609600" cy="4819075"/>
            <a:chOff x="480" y="1152"/>
            <a:chExt cx="300" cy="3000"/>
          </a:xfrm>
        </p:grpSpPr>
        <p:cxnSp>
          <p:nvCxnSpPr>
            <p:cNvPr id="915" name="Google Shape;915;p18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16" name="Google Shape;916;p18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917" name="Google Shape;917;p18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8" name="Google Shape;918;p18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9" name="Google Shape;919;p18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0" name="Google Shape;920;p18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1" name="Google Shape;921;p18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2" name="Google Shape;922;p18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3" name="Google Shape;923;p18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4" name="Google Shape;924;p18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25" name="Google Shape;925;p18"/>
          <p:cNvGrpSpPr/>
          <p:nvPr/>
        </p:nvGrpSpPr>
        <p:grpSpPr>
          <a:xfrm>
            <a:off x="1996250" y="1435467"/>
            <a:ext cx="609600" cy="4819075"/>
            <a:chOff x="480" y="1152"/>
            <a:chExt cx="300" cy="3000"/>
          </a:xfrm>
        </p:grpSpPr>
        <p:cxnSp>
          <p:nvCxnSpPr>
            <p:cNvPr id="926" name="Google Shape;926;p18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27" name="Google Shape;927;p18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928" name="Google Shape;928;p18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9" name="Google Shape;929;p18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0" name="Google Shape;930;p18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1" name="Google Shape;931;p18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2" name="Google Shape;932;p18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3" name="Google Shape;933;p18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4" name="Google Shape;934;p18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5" name="Google Shape;935;p18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36" name="Google Shape;936;p18"/>
          <p:cNvSpPr/>
          <p:nvPr/>
        </p:nvSpPr>
        <p:spPr>
          <a:xfrm>
            <a:off x="2617138" y="1444155"/>
            <a:ext cx="609600" cy="4819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37" name="Google Shape;937;p18"/>
          <p:cNvSpPr/>
          <p:nvPr/>
        </p:nvSpPr>
        <p:spPr>
          <a:xfrm>
            <a:off x="2011300" y="1444142"/>
            <a:ext cx="609600" cy="4819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48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28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9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22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5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54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63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76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81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92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9"/>
          <p:cNvSpPr txBox="1"/>
          <p:nvPr/>
        </p:nvSpPr>
        <p:spPr>
          <a:xfrm>
            <a:off x="20275" y="-21950"/>
            <a:ext cx="85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 the heapsort algorithm manually by sorting the following 9 element array:</a:t>
            </a:r>
            <a:endParaRPr/>
          </a:p>
        </p:txBody>
      </p:sp>
      <p:sp>
        <p:nvSpPr>
          <p:cNvPr id="943" name="Google Shape;943;p19"/>
          <p:cNvSpPr txBox="1"/>
          <p:nvPr/>
        </p:nvSpPr>
        <p:spPr>
          <a:xfrm>
            <a:off x="-3" y="224480"/>
            <a:ext cx="8232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Data: [5, 22, 9, …, 28]  // the “elements” in the first column of below table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all steps (Use an application of choice to complete the assignment)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into a heap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Sort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44" name="Google Shape;944;p19"/>
          <p:cNvSpPr/>
          <p:nvPr/>
        </p:nvSpPr>
        <p:spPr>
          <a:xfrm>
            <a:off x="228600" y="1517542"/>
            <a:ext cx="547800" cy="4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[ 0 ]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[ 1 ]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[ 2 ]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[ 3 ]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[ 4 ]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[ 5 ]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[ 6 ]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[ 7 ]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[ 8 ]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[ 9 ]</a:t>
            </a:r>
            <a:endParaRPr/>
          </a:p>
        </p:txBody>
      </p:sp>
      <p:grpSp>
        <p:nvGrpSpPr>
          <p:cNvPr id="945" name="Google Shape;945;p19"/>
          <p:cNvGrpSpPr/>
          <p:nvPr/>
        </p:nvGrpSpPr>
        <p:grpSpPr>
          <a:xfrm>
            <a:off x="762000" y="1441342"/>
            <a:ext cx="609600" cy="4762500"/>
            <a:chOff x="480" y="1152"/>
            <a:chExt cx="300" cy="3000"/>
          </a:xfrm>
        </p:grpSpPr>
        <p:cxnSp>
          <p:nvCxnSpPr>
            <p:cNvPr id="946" name="Google Shape;946;p19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7" name="Google Shape;947;p19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b="1" sz="1600">
                <a:solidFill>
                  <a:schemeClr val="dk1"/>
                </a:solidFill>
              </a:endParaRPr>
            </a:p>
          </p:txBody>
        </p:sp>
        <p:cxnSp>
          <p:nvCxnSpPr>
            <p:cNvPr id="948" name="Google Shape;948;p19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9" name="Google Shape;949;p19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0" name="Google Shape;950;p19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1" name="Google Shape;951;p19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2" name="Google Shape;952;p19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3" name="Google Shape;953;p19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4" name="Google Shape;954;p19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5" name="Google Shape;955;p19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56" name="Google Shape;956;p19"/>
          <p:cNvSpPr txBox="1"/>
          <p:nvPr/>
        </p:nvSpPr>
        <p:spPr>
          <a:xfrm>
            <a:off x="7252900" y="625001"/>
            <a:ext cx="1274700" cy="554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</a:pPr>
            <a:r>
              <a:rPr b="1" i="1" lang="en-US" sz="1800">
                <a:solidFill>
                  <a:srgbClr val="FFFF00"/>
                </a:solidFill>
              </a:rPr>
              <a:t>Sort Pass 6</a:t>
            </a:r>
            <a:endParaRPr/>
          </a:p>
        </p:txBody>
      </p:sp>
      <p:grpSp>
        <p:nvGrpSpPr>
          <p:cNvPr id="957" name="Google Shape;957;p19"/>
          <p:cNvGrpSpPr/>
          <p:nvPr/>
        </p:nvGrpSpPr>
        <p:grpSpPr>
          <a:xfrm>
            <a:off x="1386650" y="1435467"/>
            <a:ext cx="609600" cy="4819075"/>
            <a:chOff x="480" y="1152"/>
            <a:chExt cx="300" cy="3000"/>
          </a:xfrm>
        </p:grpSpPr>
        <p:cxnSp>
          <p:nvCxnSpPr>
            <p:cNvPr id="958" name="Google Shape;958;p19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59" name="Google Shape;959;p19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5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48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960" name="Google Shape;960;p19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1" name="Google Shape;961;p19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2" name="Google Shape;962;p19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3" name="Google Shape;963;p19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4" name="Google Shape;964;p19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5" name="Google Shape;965;p19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6" name="Google Shape;966;p19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7" name="Google Shape;967;p19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68" name="Google Shape;968;p19"/>
          <p:cNvSpPr txBox="1"/>
          <p:nvPr/>
        </p:nvSpPr>
        <p:spPr>
          <a:xfrm>
            <a:off x="8167500" y="1456801"/>
            <a:ext cx="453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swapping 48 with 5, we heapify with the children 28 and 22.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69" name="Google Shape;969;p19"/>
          <p:cNvGrpSpPr/>
          <p:nvPr/>
        </p:nvGrpSpPr>
        <p:grpSpPr>
          <a:xfrm>
            <a:off x="2613375" y="1435467"/>
            <a:ext cx="609600" cy="4819075"/>
            <a:chOff x="480" y="1152"/>
            <a:chExt cx="300" cy="3000"/>
          </a:xfrm>
        </p:grpSpPr>
        <p:cxnSp>
          <p:nvCxnSpPr>
            <p:cNvPr id="970" name="Google Shape;970;p19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71" name="Google Shape;971;p19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972" name="Google Shape;972;p19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3" name="Google Shape;973;p19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4" name="Google Shape;974;p19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5" name="Google Shape;975;p19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6" name="Google Shape;976;p19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7" name="Google Shape;977;p19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8" name="Google Shape;978;p19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9" name="Google Shape;979;p19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80" name="Google Shape;980;p19"/>
          <p:cNvGrpSpPr/>
          <p:nvPr/>
        </p:nvGrpSpPr>
        <p:grpSpPr>
          <a:xfrm>
            <a:off x="3230500" y="1444217"/>
            <a:ext cx="609600" cy="4819075"/>
            <a:chOff x="480" y="1152"/>
            <a:chExt cx="300" cy="3000"/>
          </a:xfrm>
        </p:grpSpPr>
        <p:cxnSp>
          <p:nvCxnSpPr>
            <p:cNvPr id="981" name="Google Shape;981;p19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82" name="Google Shape;982;p19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983" name="Google Shape;983;p19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4" name="Google Shape;984;p19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5" name="Google Shape;985;p19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6" name="Google Shape;986;p19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7" name="Google Shape;987;p19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8" name="Google Shape;988;p19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9" name="Google Shape;989;p19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0" name="Google Shape;990;p19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91" name="Google Shape;991;p19"/>
          <p:cNvGrpSpPr/>
          <p:nvPr/>
        </p:nvGrpSpPr>
        <p:grpSpPr>
          <a:xfrm>
            <a:off x="3847625" y="1435467"/>
            <a:ext cx="609600" cy="4819075"/>
            <a:chOff x="480" y="1152"/>
            <a:chExt cx="300" cy="3000"/>
          </a:xfrm>
        </p:grpSpPr>
        <p:cxnSp>
          <p:nvCxnSpPr>
            <p:cNvPr id="992" name="Google Shape;992;p19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93" name="Google Shape;993;p19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994" name="Google Shape;994;p19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5" name="Google Shape;995;p19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6" name="Google Shape;996;p19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7" name="Google Shape;997;p19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8" name="Google Shape;998;p19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9" name="Google Shape;999;p19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0" name="Google Shape;1000;p19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1" name="Google Shape;1001;p19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02" name="Google Shape;1002;p19"/>
          <p:cNvGrpSpPr/>
          <p:nvPr/>
        </p:nvGrpSpPr>
        <p:grpSpPr>
          <a:xfrm>
            <a:off x="4464750" y="1439842"/>
            <a:ext cx="609600" cy="4819075"/>
            <a:chOff x="480" y="1152"/>
            <a:chExt cx="300" cy="3000"/>
          </a:xfrm>
        </p:grpSpPr>
        <p:cxnSp>
          <p:nvCxnSpPr>
            <p:cNvPr id="1003" name="Google Shape;1003;p19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04" name="Google Shape;1004;p19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005" name="Google Shape;1005;p19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6" name="Google Shape;1006;p19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7" name="Google Shape;1007;p19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8" name="Google Shape;1008;p19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9" name="Google Shape;1009;p19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0" name="Google Shape;1010;p19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1" name="Google Shape;1011;p19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2" name="Google Shape;1012;p19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13" name="Google Shape;1013;p19"/>
          <p:cNvGrpSpPr/>
          <p:nvPr/>
        </p:nvGrpSpPr>
        <p:grpSpPr>
          <a:xfrm>
            <a:off x="5074350" y="1439842"/>
            <a:ext cx="609600" cy="4819075"/>
            <a:chOff x="480" y="1152"/>
            <a:chExt cx="300" cy="3000"/>
          </a:xfrm>
        </p:grpSpPr>
        <p:cxnSp>
          <p:nvCxnSpPr>
            <p:cNvPr id="1014" name="Google Shape;1014;p19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15" name="Google Shape;1015;p19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016" name="Google Shape;1016;p19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7" name="Google Shape;1017;p19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8" name="Google Shape;1018;p19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9" name="Google Shape;1019;p19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0" name="Google Shape;1020;p19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1" name="Google Shape;1021;p19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2" name="Google Shape;1022;p19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3" name="Google Shape;1023;p19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24" name="Google Shape;1024;p19"/>
          <p:cNvGrpSpPr/>
          <p:nvPr/>
        </p:nvGrpSpPr>
        <p:grpSpPr>
          <a:xfrm>
            <a:off x="5691475" y="1439842"/>
            <a:ext cx="609600" cy="4819075"/>
            <a:chOff x="480" y="1152"/>
            <a:chExt cx="300" cy="3000"/>
          </a:xfrm>
        </p:grpSpPr>
        <p:cxnSp>
          <p:nvCxnSpPr>
            <p:cNvPr id="1025" name="Google Shape;1025;p19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26" name="Google Shape;1026;p19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027" name="Google Shape;1027;p19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8" name="Google Shape;1028;p19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9" name="Google Shape;1029;p19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0" name="Google Shape;1030;p19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1" name="Google Shape;1031;p19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2" name="Google Shape;1032;p19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3" name="Google Shape;1033;p19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4" name="Google Shape;1034;p19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35" name="Google Shape;1035;p19"/>
          <p:cNvGrpSpPr/>
          <p:nvPr/>
        </p:nvGrpSpPr>
        <p:grpSpPr>
          <a:xfrm>
            <a:off x="6308600" y="1448592"/>
            <a:ext cx="609600" cy="4819075"/>
            <a:chOff x="480" y="1152"/>
            <a:chExt cx="300" cy="3000"/>
          </a:xfrm>
        </p:grpSpPr>
        <p:cxnSp>
          <p:nvCxnSpPr>
            <p:cNvPr id="1036" name="Google Shape;1036;p19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37" name="Google Shape;1037;p19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038" name="Google Shape;1038;p19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9" name="Google Shape;1039;p19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0" name="Google Shape;1040;p19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1" name="Google Shape;1041;p19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2" name="Google Shape;1042;p19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3" name="Google Shape;1043;p19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4" name="Google Shape;1044;p19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5" name="Google Shape;1045;p19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46" name="Google Shape;1046;p19"/>
          <p:cNvGrpSpPr/>
          <p:nvPr/>
        </p:nvGrpSpPr>
        <p:grpSpPr>
          <a:xfrm>
            <a:off x="6925725" y="1439842"/>
            <a:ext cx="609600" cy="4819075"/>
            <a:chOff x="480" y="1152"/>
            <a:chExt cx="300" cy="3000"/>
          </a:xfrm>
        </p:grpSpPr>
        <p:cxnSp>
          <p:nvCxnSpPr>
            <p:cNvPr id="1047" name="Google Shape;1047;p19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8" name="Google Shape;1048;p19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049" name="Google Shape;1049;p19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0" name="Google Shape;1050;p19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1" name="Google Shape;1051;p19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2" name="Google Shape;1052;p19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3" name="Google Shape;1053;p19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4" name="Google Shape;1054;p19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5" name="Google Shape;1055;p19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6" name="Google Shape;1056;p19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57" name="Google Shape;1057;p19"/>
          <p:cNvGrpSpPr/>
          <p:nvPr/>
        </p:nvGrpSpPr>
        <p:grpSpPr>
          <a:xfrm>
            <a:off x="7542850" y="1448592"/>
            <a:ext cx="609600" cy="4819075"/>
            <a:chOff x="480" y="1152"/>
            <a:chExt cx="300" cy="3000"/>
          </a:xfrm>
        </p:grpSpPr>
        <p:cxnSp>
          <p:nvCxnSpPr>
            <p:cNvPr id="1058" name="Google Shape;1058;p19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59" name="Google Shape;1059;p19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060" name="Google Shape;1060;p19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1" name="Google Shape;1061;p19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2" name="Google Shape;1062;p19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3" name="Google Shape;1063;p19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4" name="Google Shape;1064;p19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5" name="Google Shape;1065;p19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6" name="Google Shape;1066;p19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7" name="Google Shape;1067;p19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68" name="Google Shape;1068;p19"/>
          <p:cNvGrpSpPr/>
          <p:nvPr/>
        </p:nvGrpSpPr>
        <p:grpSpPr>
          <a:xfrm>
            <a:off x="1996250" y="1435467"/>
            <a:ext cx="609600" cy="4819075"/>
            <a:chOff x="480" y="1152"/>
            <a:chExt cx="300" cy="3000"/>
          </a:xfrm>
        </p:grpSpPr>
        <p:cxnSp>
          <p:nvCxnSpPr>
            <p:cNvPr id="1069" name="Google Shape;1069;p19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70" name="Google Shape;1070;p19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071" name="Google Shape;1071;p19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2" name="Google Shape;1072;p19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3" name="Google Shape;1073;p19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4" name="Google Shape;1074;p19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5" name="Google Shape;1075;p19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6" name="Google Shape;1076;p19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7" name="Google Shape;1077;p19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8" name="Google Shape;1078;p19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79" name="Google Shape;1079;p19"/>
          <p:cNvSpPr/>
          <p:nvPr/>
        </p:nvSpPr>
        <p:spPr>
          <a:xfrm>
            <a:off x="2617138" y="1444155"/>
            <a:ext cx="609600" cy="4819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28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</a:rPr>
              <a:t>22</a:t>
            </a:r>
            <a:endParaRPr b="1" sz="1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9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</a:rPr>
              <a:t>5</a:t>
            </a:r>
            <a:endParaRPr b="1" sz="1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48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54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63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76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81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92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80" name="Google Shape;1080;p19"/>
          <p:cNvSpPr/>
          <p:nvPr/>
        </p:nvSpPr>
        <p:spPr>
          <a:xfrm>
            <a:off x="2011300" y="1444142"/>
            <a:ext cx="609600" cy="4819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</a:rPr>
              <a:t>28</a:t>
            </a:r>
            <a:endParaRPr b="1" sz="1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</a:rPr>
              <a:t>5</a:t>
            </a:r>
            <a:endParaRPr b="1" sz="1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9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22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48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54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63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76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81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92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20"/>
          <p:cNvSpPr txBox="1"/>
          <p:nvPr/>
        </p:nvSpPr>
        <p:spPr>
          <a:xfrm>
            <a:off x="20275" y="-21950"/>
            <a:ext cx="85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 the heapsort algorithm manually by sorting the following 9 element array:</a:t>
            </a:r>
            <a:endParaRPr/>
          </a:p>
        </p:txBody>
      </p:sp>
      <p:sp>
        <p:nvSpPr>
          <p:cNvPr id="1086" name="Google Shape;1086;p20"/>
          <p:cNvSpPr txBox="1"/>
          <p:nvPr/>
        </p:nvSpPr>
        <p:spPr>
          <a:xfrm>
            <a:off x="-3" y="224480"/>
            <a:ext cx="8232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Data: [5, 22, 9, …, 28]  // the “elements” in the first column of below table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all steps (Use an application of choice to complete the assignment)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into a heap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Sort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87" name="Google Shape;1087;p20"/>
          <p:cNvSpPr/>
          <p:nvPr/>
        </p:nvSpPr>
        <p:spPr>
          <a:xfrm>
            <a:off x="228600" y="1517542"/>
            <a:ext cx="547800" cy="4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[ 0 ]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[ 1 ]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[ 2 ]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[ 3 ]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[ 4 ]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[ 5 ]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[ 6 ]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[ 7 ]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[ 8 ]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[ 9 ]</a:t>
            </a:r>
            <a:endParaRPr/>
          </a:p>
        </p:txBody>
      </p:sp>
      <p:grpSp>
        <p:nvGrpSpPr>
          <p:cNvPr id="1088" name="Google Shape;1088;p20"/>
          <p:cNvGrpSpPr/>
          <p:nvPr/>
        </p:nvGrpSpPr>
        <p:grpSpPr>
          <a:xfrm>
            <a:off x="762000" y="1441342"/>
            <a:ext cx="609600" cy="4762500"/>
            <a:chOff x="480" y="1152"/>
            <a:chExt cx="300" cy="3000"/>
          </a:xfrm>
        </p:grpSpPr>
        <p:cxnSp>
          <p:nvCxnSpPr>
            <p:cNvPr id="1089" name="Google Shape;1089;p20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0" name="Google Shape;1090;p20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b="1" sz="1600">
                <a:solidFill>
                  <a:schemeClr val="dk1"/>
                </a:solidFill>
              </a:endParaRPr>
            </a:p>
          </p:txBody>
        </p:sp>
        <p:cxnSp>
          <p:nvCxnSpPr>
            <p:cNvPr id="1091" name="Google Shape;1091;p20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2" name="Google Shape;1092;p20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3" name="Google Shape;1093;p20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4" name="Google Shape;1094;p20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5" name="Google Shape;1095;p20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6" name="Google Shape;1096;p20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7" name="Google Shape;1097;p20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8" name="Google Shape;1098;p20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99" name="Google Shape;1099;p20"/>
          <p:cNvSpPr txBox="1"/>
          <p:nvPr/>
        </p:nvSpPr>
        <p:spPr>
          <a:xfrm>
            <a:off x="7252900" y="625001"/>
            <a:ext cx="1274700" cy="554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</a:pPr>
            <a:r>
              <a:rPr b="1" i="1" lang="en-US" sz="1800">
                <a:solidFill>
                  <a:srgbClr val="FFFF00"/>
                </a:solidFill>
              </a:rPr>
              <a:t>Sort Pass 6</a:t>
            </a:r>
            <a:endParaRPr/>
          </a:p>
        </p:txBody>
      </p:sp>
      <p:grpSp>
        <p:nvGrpSpPr>
          <p:cNvPr id="1100" name="Google Shape;1100;p20"/>
          <p:cNvGrpSpPr/>
          <p:nvPr/>
        </p:nvGrpSpPr>
        <p:grpSpPr>
          <a:xfrm>
            <a:off x="1386650" y="1435467"/>
            <a:ext cx="609600" cy="4819075"/>
            <a:chOff x="480" y="1152"/>
            <a:chExt cx="300" cy="3000"/>
          </a:xfrm>
        </p:grpSpPr>
        <p:cxnSp>
          <p:nvCxnSpPr>
            <p:cNvPr id="1101" name="Google Shape;1101;p20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02" name="Google Shape;1102;p20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5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48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103" name="Google Shape;1103;p20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4" name="Google Shape;1104;p20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5" name="Google Shape;1105;p20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6" name="Google Shape;1106;p20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7" name="Google Shape;1107;p20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8" name="Google Shape;1108;p20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9" name="Google Shape;1109;p20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0" name="Google Shape;1110;p20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11" name="Google Shape;1111;p20"/>
          <p:cNvSpPr txBox="1"/>
          <p:nvPr/>
        </p:nvSpPr>
        <p:spPr>
          <a:xfrm>
            <a:off x="8167500" y="1456801"/>
            <a:ext cx="453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swapping 48 with 5, we heapify with the children 28 and 22.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12" name="Google Shape;1112;p20"/>
          <p:cNvGrpSpPr/>
          <p:nvPr/>
        </p:nvGrpSpPr>
        <p:grpSpPr>
          <a:xfrm>
            <a:off x="2613375" y="1435467"/>
            <a:ext cx="609600" cy="4819075"/>
            <a:chOff x="480" y="1152"/>
            <a:chExt cx="300" cy="3000"/>
          </a:xfrm>
        </p:grpSpPr>
        <p:cxnSp>
          <p:nvCxnSpPr>
            <p:cNvPr id="1113" name="Google Shape;1113;p20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4" name="Google Shape;1114;p20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115" name="Google Shape;1115;p20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6" name="Google Shape;1116;p20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7" name="Google Shape;1117;p20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8" name="Google Shape;1118;p20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9" name="Google Shape;1119;p20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0" name="Google Shape;1120;p20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1" name="Google Shape;1121;p20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2" name="Google Shape;1122;p20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23" name="Google Shape;1123;p20"/>
          <p:cNvGrpSpPr/>
          <p:nvPr/>
        </p:nvGrpSpPr>
        <p:grpSpPr>
          <a:xfrm>
            <a:off x="3230500" y="1444217"/>
            <a:ext cx="609600" cy="4819075"/>
            <a:chOff x="480" y="1152"/>
            <a:chExt cx="300" cy="3000"/>
          </a:xfrm>
        </p:grpSpPr>
        <p:cxnSp>
          <p:nvCxnSpPr>
            <p:cNvPr id="1124" name="Google Shape;1124;p20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5" name="Google Shape;1125;p20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126" name="Google Shape;1126;p20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7" name="Google Shape;1127;p20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8" name="Google Shape;1128;p20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9" name="Google Shape;1129;p20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0" name="Google Shape;1130;p20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1" name="Google Shape;1131;p20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2" name="Google Shape;1132;p20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3" name="Google Shape;1133;p20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34" name="Google Shape;1134;p20"/>
          <p:cNvGrpSpPr/>
          <p:nvPr/>
        </p:nvGrpSpPr>
        <p:grpSpPr>
          <a:xfrm>
            <a:off x="3847625" y="1435467"/>
            <a:ext cx="609600" cy="4819075"/>
            <a:chOff x="480" y="1152"/>
            <a:chExt cx="300" cy="3000"/>
          </a:xfrm>
        </p:grpSpPr>
        <p:cxnSp>
          <p:nvCxnSpPr>
            <p:cNvPr id="1135" name="Google Shape;1135;p20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36" name="Google Shape;1136;p20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137" name="Google Shape;1137;p20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8" name="Google Shape;1138;p20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9" name="Google Shape;1139;p20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0" name="Google Shape;1140;p20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1" name="Google Shape;1141;p20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2" name="Google Shape;1142;p20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3" name="Google Shape;1143;p20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4" name="Google Shape;1144;p20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45" name="Google Shape;1145;p20"/>
          <p:cNvGrpSpPr/>
          <p:nvPr/>
        </p:nvGrpSpPr>
        <p:grpSpPr>
          <a:xfrm>
            <a:off x="4464750" y="1439842"/>
            <a:ext cx="609600" cy="4819075"/>
            <a:chOff x="480" y="1152"/>
            <a:chExt cx="300" cy="3000"/>
          </a:xfrm>
        </p:grpSpPr>
        <p:cxnSp>
          <p:nvCxnSpPr>
            <p:cNvPr id="1146" name="Google Shape;1146;p20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7" name="Google Shape;1147;p20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148" name="Google Shape;1148;p20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9" name="Google Shape;1149;p20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0" name="Google Shape;1150;p20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1" name="Google Shape;1151;p20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2" name="Google Shape;1152;p20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3" name="Google Shape;1153;p20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4" name="Google Shape;1154;p20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5" name="Google Shape;1155;p20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56" name="Google Shape;1156;p20"/>
          <p:cNvGrpSpPr/>
          <p:nvPr/>
        </p:nvGrpSpPr>
        <p:grpSpPr>
          <a:xfrm>
            <a:off x="5074350" y="1439842"/>
            <a:ext cx="609600" cy="4819075"/>
            <a:chOff x="480" y="1152"/>
            <a:chExt cx="300" cy="3000"/>
          </a:xfrm>
        </p:grpSpPr>
        <p:cxnSp>
          <p:nvCxnSpPr>
            <p:cNvPr id="1157" name="Google Shape;1157;p20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8" name="Google Shape;1158;p20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159" name="Google Shape;1159;p20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0" name="Google Shape;1160;p20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1" name="Google Shape;1161;p20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2" name="Google Shape;1162;p20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3" name="Google Shape;1163;p20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4" name="Google Shape;1164;p20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5" name="Google Shape;1165;p20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6" name="Google Shape;1166;p20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67" name="Google Shape;1167;p20"/>
          <p:cNvGrpSpPr/>
          <p:nvPr/>
        </p:nvGrpSpPr>
        <p:grpSpPr>
          <a:xfrm>
            <a:off x="5691475" y="1439842"/>
            <a:ext cx="609600" cy="4819075"/>
            <a:chOff x="480" y="1152"/>
            <a:chExt cx="300" cy="3000"/>
          </a:xfrm>
        </p:grpSpPr>
        <p:cxnSp>
          <p:nvCxnSpPr>
            <p:cNvPr id="1168" name="Google Shape;1168;p20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69" name="Google Shape;1169;p20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170" name="Google Shape;1170;p20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1" name="Google Shape;1171;p20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2" name="Google Shape;1172;p20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3" name="Google Shape;1173;p20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4" name="Google Shape;1174;p20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5" name="Google Shape;1175;p20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6" name="Google Shape;1176;p20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7" name="Google Shape;1177;p20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78" name="Google Shape;1178;p20"/>
          <p:cNvGrpSpPr/>
          <p:nvPr/>
        </p:nvGrpSpPr>
        <p:grpSpPr>
          <a:xfrm>
            <a:off x="6308600" y="1448592"/>
            <a:ext cx="609600" cy="4819075"/>
            <a:chOff x="480" y="1152"/>
            <a:chExt cx="300" cy="3000"/>
          </a:xfrm>
        </p:grpSpPr>
        <p:cxnSp>
          <p:nvCxnSpPr>
            <p:cNvPr id="1179" name="Google Shape;1179;p20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0" name="Google Shape;1180;p20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181" name="Google Shape;1181;p20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2" name="Google Shape;1182;p20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3" name="Google Shape;1183;p20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4" name="Google Shape;1184;p20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5" name="Google Shape;1185;p20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6" name="Google Shape;1186;p20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7" name="Google Shape;1187;p20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8" name="Google Shape;1188;p20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89" name="Google Shape;1189;p20"/>
          <p:cNvGrpSpPr/>
          <p:nvPr/>
        </p:nvGrpSpPr>
        <p:grpSpPr>
          <a:xfrm>
            <a:off x="6925725" y="1439842"/>
            <a:ext cx="609600" cy="4819075"/>
            <a:chOff x="480" y="1152"/>
            <a:chExt cx="300" cy="3000"/>
          </a:xfrm>
        </p:grpSpPr>
        <p:cxnSp>
          <p:nvCxnSpPr>
            <p:cNvPr id="1190" name="Google Shape;1190;p20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1" name="Google Shape;1191;p20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192" name="Google Shape;1192;p20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3" name="Google Shape;1193;p20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4" name="Google Shape;1194;p20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5" name="Google Shape;1195;p20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6" name="Google Shape;1196;p20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7" name="Google Shape;1197;p20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8" name="Google Shape;1198;p20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9" name="Google Shape;1199;p20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00" name="Google Shape;1200;p20"/>
          <p:cNvGrpSpPr/>
          <p:nvPr/>
        </p:nvGrpSpPr>
        <p:grpSpPr>
          <a:xfrm>
            <a:off x="7542850" y="1448592"/>
            <a:ext cx="609600" cy="4819075"/>
            <a:chOff x="480" y="1152"/>
            <a:chExt cx="300" cy="3000"/>
          </a:xfrm>
        </p:grpSpPr>
        <p:cxnSp>
          <p:nvCxnSpPr>
            <p:cNvPr id="1201" name="Google Shape;1201;p20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2" name="Google Shape;1202;p20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203" name="Google Shape;1203;p20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4" name="Google Shape;1204;p20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5" name="Google Shape;1205;p20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6" name="Google Shape;1206;p20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7" name="Google Shape;1207;p20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8" name="Google Shape;1208;p20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9" name="Google Shape;1209;p20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0" name="Google Shape;1210;p20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11" name="Google Shape;1211;p20"/>
          <p:cNvGrpSpPr/>
          <p:nvPr/>
        </p:nvGrpSpPr>
        <p:grpSpPr>
          <a:xfrm>
            <a:off x="1996250" y="1435467"/>
            <a:ext cx="609600" cy="4819075"/>
            <a:chOff x="480" y="1152"/>
            <a:chExt cx="300" cy="3000"/>
          </a:xfrm>
        </p:grpSpPr>
        <p:cxnSp>
          <p:nvCxnSpPr>
            <p:cNvPr id="1212" name="Google Shape;1212;p20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3" name="Google Shape;1213;p20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214" name="Google Shape;1214;p20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5" name="Google Shape;1215;p20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6" name="Google Shape;1216;p20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7" name="Google Shape;1217;p20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8" name="Google Shape;1218;p20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9" name="Google Shape;1219;p20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0" name="Google Shape;1220;p20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1" name="Google Shape;1221;p20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22" name="Google Shape;1222;p20"/>
          <p:cNvSpPr/>
          <p:nvPr/>
        </p:nvSpPr>
        <p:spPr>
          <a:xfrm>
            <a:off x="2617138" y="1444155"/>
            <a:ext cx="609600" cy="4819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28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</a:rPr>
              <a:t>22</a:t>
            </a:r>
            <a:endParaRPr b="1" sz="1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9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</a:rPr>
              <a:t>5</a:t>
            </a:r>
            <a:endParaRPr b="1" sz="1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48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54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63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76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81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92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23" name="Google Shape;1223;p20"/>
          <p:cNvSpPr/>
          <p:nvPr/>
        </p:nvSpPr>
        <p:spPr>
          <a:xfrm>
            <a:off x="2011300" y="1444142"/>
            <a:ext cx="609600" cy="4819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</a:rPr>
              <a:t>28</a:t>
            </a:r>
            <a:endParaRPr b="1" sz="1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</a:rPr>
              <a:t>5</a:t>
            </a:r>
            <a:endParaRPr b="1" sz="1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9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22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48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54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63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76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81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92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21"/>
          <p:cNvSpPr txBox="1"/>
          <p:nvPr/>
        </p:nvSpPr>
        <p:spPr>
          <a:xfrm>
            <a:off x="20275" y="-21950"/>
            <a:ext cx="85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 the heapsort algorithm manually by sorting the following 9 element array:</a:t>
            </a:r>
            <a:endParaRPr/>
          </a:p>
        </p:txBody>
      </p:sp>
      <p:sp>
        <p:nvSpPr>
          <p:cNvPr id="1229" name="Google Shape;1229;p21"/>
          <p:cNvSpPr txBox="1"/>
          <p:nvPr/>
        </p:nvSpPr>
        <p:spPr>
          <a:xfrm>
            <a:off x="-3" y="224480"/>
            <a:ext cx="8232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Data: [5, 22, 9, …, 28]  // the “elements” in the first column of below table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all steps (Use an application of choice to complete the assignment)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into a heap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Sort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230" name="Google Shape;1230;p21"/>
          <p:cNvSpPr/>
          <p:nvPr/>
        </p:nvSpPr>
        <p:spPr>
          <a:xfrm>
            <a:off x="228600" y="1517542"/>
            <a:ext cx="547800" cy="4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[ 0 ]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[ 1 ]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[ 2 ]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[ 3 ]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[ 4 ]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[ 5 ]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[ 6 ]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[ 7 ]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[ 8 ]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[ 9 ]</a:t>
            </a:r>
            <a:endParaRPr/>
          </a:p>
        </p:txBody>
      </p:sp>
      <p:grpSp>
        <p:nvGrpSpPr>
          <p:cNvPr id="1231" name="Google Shape;1231;p21"/>
          <p:cNvGrpSpPr/>
          <p:nvPr/>
        </p:nvGrpSpPr>
        <p:grpSpPr>
          <a:xfrm>
            <a:off x="762000" y="1441342"/>
            <a:ext cx="609600" cy="4762500"/>
            <a:chOff x="480" y="1152"/>
            <a:chExt cx="300" cy="3000"/>
          </a:xfrm>
        </p:grpSpPr>
        <p:cxnSp>
          <p:nvCxnSpPr>
            <p:cNvPr id="1232" name="Google Shape;1232;p21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3" name="Google Shape;1233;p21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b="1" sz="1600">
                <a:solidFill>
                  <a:schemeClr val="dk1"/>
                </a:solidFill>
              </a:endParaRPr>
            </a:p>
          </p:txBody>
        </p:sp>
        <p:cxnSp>
          <p:nvCxnSpPr>
            <p:cNvPr id="1234" name="Google Shape;1234;p21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5" name="Google Shape;1235;p21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6" name="Google Shape;1236;p21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7" name="Google Shape;1237;p21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8" name="Google Shape;1238;p21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9" name="Google Shape;1239;p21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0" name="Google Shape;1240;p21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1" name="Google Shape;1241;p21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42" name="Google Shape;1242;p21"/>
          <p:cNvSpPr txBox="1"/>
          <p:nvPr/>
        </p:nvSpPr>
        <p:spPr>
          <a:xfrm>
            <a:off x="7252900" y="625001"/>
            <a:ext cx="1274700" cy="554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</a:pPr>
            <a:r>
              <a:rPr b="1" i="1" lang="en-US" sz="1800">
                <a:solidFill>
                  <a:srgbClr val="FFFF00"/>
                </a:solidFill>
              </a:rPr>
              <a:t>Sort Pass 7</a:t>
            </a:r>
            <a:endParaRPr/>
          </a:p>
        </p:txBody>
      </p:sp>
      <p:grpSp>
        <p:nvGrpSpPr>
          <p:cNvPr id="1243" name="Google Shape;1243;p21"/>
          <p:cNvGrpSpPr/>
          <p:nvPr/>
        </p:nvGrpSpPr>
        <p:grpSpPr>
          <a:xfrm>
            <a:off x="1386650" y="1435467"/>
            <a:ext cx="609600" cy="4819075"/>
            <a:chOff x="480" y="1152"/>
            <a:chExt cx="300" cy="3000"/>
          </a:xfrm>
        </p:grpSpPr>
        <p:cxnSp>
          <p:nvCxnSpPr>
            <p:cNvPr id="1244" name="Google Shape;1244;p21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5" name="Google Shape;1245;p21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5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28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246" name="Google Shape;1246;p21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7" name="Google Shape;1247;p21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8" name="Google Shape;1248;p21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9" name="Google Shape;1249;p21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0" name="Google Shape;1250;p21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1" name="Google Shape;1251;p21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2" name="Google Shape;1252;p21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3" name="Google Shape;1253;p21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54" name="Google Shape;1254;p21"/>
          <p:cNvSpPr txBox="1"/>
          <p:nvPr/>
        </p:nvSpPr>
        <p:spPr>
          <a:xfrm>
            <a:off x="8167500" y="1456801"/>
            <a:ext cx="453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swapping 28 and 5, we heapify with the child 22.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55" name="Google Shape;1255;p21"/>
          <p:cNvGrpSpPr/>
          <p:nvPr/>
        </p:nvGrpSpPr>
        <p:grpSpPr>
          <a:xfrm>
            <a:off x="2613375" y="1435467"/>
            <a:ext cx="609600" cy="4819075"/>
            <a:chOff x="480" y="1152"/>
            <a:chExt cx="300" cy="3000"/>
          </a:xfrm>
        </p:grpSpPr>
        <p:cxnSp>
          <p:nvCxnSpPr>
            <p:cNvPr id="1256" name="Google Shape;1256;p21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7" name="Google Shape;1257;p21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258" name="Google Shape;1258;p21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9" name="Google Shape;1259;p21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0" name="Google Shape;1260;p21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1" name="Google Shape;1261;p21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2" name="Google Shape;1262;p21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3" name="Google Shape;1263;p21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4" name="Google Shape;1264;p21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5" name="Google Shape;1265;p21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66" name="Google Shape;1266;p21"/>
          <p:cNvGrpSpPr/>
          <p:nvPr/>
        </p:nvGrpSpPr>
        <p:grpSpPr>
          <a:xfrm>
            <a:off x="3230500" y="1444217"/>
            <a:ext cx="609600" cy="4819075"/>
            <a:chOff x="480" y="1152"/>
            <a:chExt cx="300" cy="3000"/>
          </a:xfrm>
        </p:grpSpPr>
        <p:cxnSp>
          <p:nvCxnSpPr>
            <p:cNvPr id="1267" name="Google Shape;1267;p21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8" name="Google Shape;1268;p21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269" name="Google Shape;1269;p21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0" name="Google Shape;1270;p21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1" name="Google Shape;1271;p21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2" name="Google Shape;1272;p21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3" name="Google Shape;1273;p21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4" name="Google Shape;1274;p21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5" name="Google Shape;1275;p21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6" name="Google Shape;1276;p21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77" name="Google Shape;1277;p21"/>
          <p:cNvGrpSpPr/>
          <p:nvPr/>
        </p:nvGrpSpPr>
        <p:grpSpPr>
          <a:xfrm>
            <a:off x="3847625" y="1435467"/>
            <a:ext cx="609600" cy="4819075"/>
            <a:chOff x="480" y="1152"/>
            <a:chExt cx="300" cy="3000"/>
          </a:xfrm>
        </p:grpSpPr>
        <p:cxnSp>
          <p:nvCxnSpPr>
            <p:cNvPr id="1278" name="Google Shape;1278;p21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79" name="Google Shape;1279;p21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280" name="Google Shape;1280;p21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1" name="Google Shape;1281;p21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2" name="Google Shape;1282;p21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3" name="Google Shape;1283;p21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4" name="Google Shape;1284;p21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5" name="Google Shape;1285;p21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6" name="Google Shape;1286;p21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7" name="Google Shape;1287;p21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88" name="Google Shape;1288;p21"/>
          <p:cNvGrpSpPr/>
          <p:nvPr/>
        </p:nvGrpSpPr>
        <p:grpSpPr>
          <a:xfrm>
            <a:off x="4464750" y="1439842"/>
            <a:ext cx="609600" cy="4819075"/>
            <a:chOff x="480" y="1152"/>
            <a:chExt cx="300" cy="3000"/>
          </a:xfrm>
        </p:grpSpPr>
        <p:cxnSp>
          <p:nvCxnSpPr>
            <p:cNvPr id="1289" name="Google Shape;1289;p21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0" name="Google Shape;1290;p21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291" name="Google Shape;1291;p21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2" name="Google Shape;1292;p21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3" name="Google Shape;1293;p21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4" name="Google Shape;1294;p21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5" name="Google Shape;1295;p21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6" name="Google Shape;1296;p21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7" name="Google Shape;1297;p21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8" name="Google Shape;1298;p21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99" name="Google Shape;1299;p21"/>
          <p:cNvGrpSpPr/>
          <p:nvPr/>
        </p:nvGrpSpPr>
        <p:grpSpPr>
          <a:xfrm>
            <a:off x="5074350" y="1439842"/>
            <a:ext cx="609600" cy="4819075"/>
            <a:chOff x="480" y="1152"/>
            <a:chExt cx="300" cy="3000"/>
          </a:xfrm>
        </p:grpSpPr>
        <p:cxnSp>
          <p:nvCxnSpPr>
            <p:cNvPr id="1300" name="Google Shape;1300;p21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1" name="Google Shape;1301;p21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302" name="Google Shape;1302;p21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3" name="Google Shape;1303;p21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4" name="Google Shape;1304;p21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5" name="Google Shape;1305;p21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6" name="Google Shape;1306;p21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7" name="Google Shape;1307;p21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8" name="Google Shape;1308;p21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9" name="Google Shape;1309;p21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10" name="Google Shape;1310;p21"/>
          <p:cNvGrpSpPr/>
          <p:nvPr/>
        </p:nvGrpSpPr>
        <p:grpSpPr>
          <a:xfrm>
            <a:off x="5691475" y="1439842"/>
            <a:ext cx="609600" cy="4819075"/>
            <a:chOff x="480" y="1152"/>
            <a:chExt cx="300" cy="3000"/>
          </a:xfrm>
        </p:grpSpPr>
        <p:cxnSp>
          <p:nvCxnSpPr>
            <p:cNvPr id="1311" name="Google Shape;1311;p21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12" name="Google Shape;1312;p21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313" name="Google Shape;1313;p21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4" name="Google Shape;1314;p21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5" name="Google Shape;1315;p21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6" name="Google Shape;1316;p21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7" name="Google Shape;1317;p21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8" name="Google Shape;1318;p21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9" name="Google Shape;1319;p21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0" name="Google Shape;1320;p21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21" name="Google Shape;1321;p21"/>
          <p:cNvGrpSpPr/>
          <p:nvPr/>
        </p:nvGrpSpPr>
        <p:grpSpPr>
          <a:xfrm>
            <a:off x="6308600" y="1448592"/>
            <a:ext cx="609600" cy="4819075"/>
            <a:chOff x="480" y="1152"/>
            <a:chExt cx="300" cy="3000"/>
          </a:xfrm>
        </p:grpSpPr>
        <p:cxnSp>
          <p:nvCxnSpPr>
            <p:cNvPr id="1322" name="Google Shape;1322;p21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3" name="Google Shape;1323;p21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324" name="Google Shape;1324;p21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5" name="Google Shape;1325;p21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6" name="Google Shape;1326;p21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7" name="Google Shape;1327;p21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8" name="Google Shape;1328;p21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9" name="Google Shape;1329;p21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0" name="Google Shape;1330;p21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1" name="Google Shape;1331;p21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32" name="Google Shape;1332;p21"/>
          <p:cNvGrpSpPr/>
          <p:nvPr/>
        </p:nvGrpSpPr>
        <p:grpSpPr>
          <a:xfrm>
            <a:off x="6925725" y="1439842"/>
            <a:ext cx="609600" cy="4819075"/>
            <a:chOff x="480" y="1152"/>
            <a:chExt cx="300" cy="3000"/>
          </a:xfrm>
        </p:grpSpPr>
        <p:cxnSp>
          <p:nvCxnSpPr>
            <p:cNvPr id="1333" name="Google Shape;1333;p21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34" name="Google Shape;1334;p21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335" name="Google Shape;1335;p21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6" name="Google Shape;1336;p21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7" name="Google Shape;1337;p21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8" name="Google Shape;1338;p21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9" name="Google Shape;1339;p21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0" name="Google Shape;1340;p21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1" name="Google Shape;1341;p21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2" name="Google Shape;1342;p21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43" name="Google Shape;1343;p21"/>
          <p:cNvGrpSpPr/>
          <p:nvPr/>
        </p:nvGrpSpPr>
        <p:grpSpPr>
          <a:xfrm>
            <a:off x="7542850" y="1448592"/>
            <a:ext cx="609600" cy="4819075"/>
            <a:chOff x="480" y="1152"/>
            <a:chExt cx="300" cy="3000"/>
          </a:xfrm>
        </p:grpSpPr>
        <p:cxnSp>
          <p:nvCxnSpPr>
            <p:cNvPr id="1344" name="Google Shape;1344;p21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45" name="Google Shape;1345;p21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346" name="Google Shape;1346;p21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7" name="Google Shape;1347;p21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8" name="Google Shape;1348;p21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9" name="Google Shape;1349;p21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0" name="Google Shape;1350;p21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1" name="Google Shape;1351;p21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2" name="Google Shape;1352;p21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3" name="Google Shape;1353;p21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54" name="Google Shape;1354;p21"/>
          <p:cNvGrpSpPr/>
          <p:nvPr/>
        </p:nvGrpSpPr>
        <p:grpSpPr>
          <a:xfrm>
            <a:off x="1996250" y="1435467"/>
            <a:ext cx="609600" cy="4819075"/>
            <a:chOff x="480" y="1152"/>
            <a:chExt cx="300" cy="3000"/>
          </a:xfrm>
        </p:grpSpPr>
        <p:cxnSp>
          <p:nvCxnSpPr>
            <p:cNvPr id="1355" name="Google Shape;1355;p21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56" name="Google Shape;1356;p21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357" name="Google Shape;1357;p21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8" name="Google Shape;1358;p21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9" name="Google Shape;1359;p21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0" name="Google Shape;1360;p21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1" name="Google Shape;1361;p21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2" name="Google Shape;1362;p21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3" name="Google Shape;1363;p21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4" name="Google Shape;1364;p21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65" name="Google Shape;1365;p21"/>
          <p:cNvSpPr/>
          <p:nvPr/>
        </p:nvSpPr>
        <p:spPr>
          <a:xfrm>
            <a:off x="2617138" y="1444155"/>
            <a:ext cx="609600" cy="4819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66" name="Google Shape;1366;p21"/>
          <p:cNvSpPr/>
          <p:nvPr/>
        </p:nvSpPr>
        <p:spPr>
          <a:xfrm>
            <a:off x="2011300" y="1444142"/>
            <a:ext cx="609600" cy="4819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</a:rPr>
              <a:t>22</a:t>
            </a:r>
            <a:endParaRPr b="1" sz="1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</a:rPr>
              <a:t>5</a:t>
            </a:r>
            <a:endParaRPr b="1" sz="1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9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28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48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54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63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76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81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92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22"/>
          <p:cNvSpPr txBox="1"/>
          <p:nvPr/>
        </p:nvSpPr>
        <p:spPr>
          <a:xfrm>
            <a:off x="20275" y="-21950"/>
            <a:ext cx="85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 the heapsort algorithm manually by sorting the following 9 element array:</a:t>
            </a:r>
            <a:endParaRPr/>
          </a:p>
        </p:txBody>
      </p:sp>
      <p:sp>
        <p:nvSpPr>
          <p:cNvPr id="1372" name="Google Shape;1372;p22"/>
          <p:cNvSpPr txBox="1"/>
          <p:nvPr/>
        </p:nvSpPr>
        <p:spPr>
          <a:xfrm>
            <a:off x="-3" y="224480"/>
            <a:ext cx="8232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Data: [5, 22, 9, …, 28]  // the “elements” in the first column of below table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all steps (Use an application of choice to complete the assignment)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into a heap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Sort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73" name="Google Shape;1373;p22"/>
          <p:cNvSpPr/>
          <p:nvPr/>
        </p:nvSpPr>
        <p:spPr>
          <a:xfrm>
            <a:off x="228600" y="1517542"/>
            <a:ext cx="547800" cy="4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[ 0 ]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[ 1 ]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[ 2 ]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[ 3 ]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[ 4 ]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[ 5 ]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[ 6 ]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[ 7 ]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[ 8 ]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[ 9 ]</a:t>
            </a:r>
            <a:endParaRPr/>
          </a:p>
        </p:txBody>
      </p:sp>
      <p:grpSp>
        <p:nvGrpSpPr>
          <p:cNvPr id="1374" name="Google Shape;1374;p22"/>
          <p:cNvGrpSpPr/>
          <p:nvPr/>
        </p:nvGrpSpPr>
        <p:grpSpPr>
          <a:xfrm>
            <a:off x="762000" y="1441342"/>
            <a:ext cx="609600" cy="4762500"/>
            <a:chOff x="480" y="1152"/>
            <a:chExt cx="300" cy="3000"/>
          </a:xfrm>
        </p:grpSpPr>
        <p:cxnSp>
          <p:nvCxnSpPr>
            <p:cNvPr id="1375" name="Google Shape;1375;p22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76" name="Google Shape;1376;p22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b="1" sz="1600">
                <a:solidFill>
                  <a:schemeClr val="dk1"/>
                </a:solidFill>
              </a:endParaRPr>
            </a:p>
          </p:txBody>
        </p:sp>
        <p:cxnSp>
          <p:nvCxnSpPr>
            <p:cNvPr id="1377" name="Google Shape;1377;p22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8" name="Google Shape;1378;p22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9" name="Google Shape;1379;p22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0" name="Google Shape;1380;p22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1" name="Google Shape;1381;p22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2" name="Google Shape;1382;p22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3" name="Google Shape;1383;p22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4" name="Google Shape;1384;p22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85" name="Google Shape;1385;p22"/>
          <p:cNvSpPr txBox="1"/>
          <p:nvPr/>
        </p:nvSpPr>
        <p:spPr>
          <a:xfrm>
            <a:off x="7252900" y="625001"/>
            <a:ext cx="1274700" cy="554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</a:pPr>
            <a:r>
              <a:rPr b="1" i="1" lang="en-US" sz="1800">
                <a:solidFill>
                  <a:srgbClr val="FFFF00"/>
                </a:solidFill>
              </a:rPr>
              <a:t>Sort Pass 8</a:t>
            </a:r>
            <a:endParaRPr/>
          </a:p>
        </p:txBody>
      </p:sp>
      <p:grpSp>
        <p:nvGrpSpPr>
          <p:cNvPr id="1386" name="Google Shape;1386;p22"/>
          <p:cNvGrpSpPr/>
          <p:nvPr/>
        </p:nvGrpSpPr>
        <p:grpSpPr>
          <a:xfrm>
            <a:off x="1386650" y="1435467"/>
            <a:ext cx="609600" cy="4819075"/>
            <a:chOff x="480" y="1152"/>
            <a:chExt cx="300" cy="3000"/>
          </a:xfrm>
        </p:grpSpPr>
        <p:cxnSp>
          <p:nvCxnSpPr>
            <p:cNvPr id="1387" name="Google Shape;1387;p22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88" name="Google Shape;1388;p22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9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FFFF00"/>
                  </a:highlight>
                </a:rPr>
                <a:t>22</a:t>
              </a:r>
              <a:endParaRPr b="1" sz="1600">
                <a:solidFill>
                  <a:schemeClr val="dk1"/>
                </a:solidFill>
                <a:highlight>
                  <a:srgbClr val="FF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389" name="Google Shape;1389;p22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0" name="Google Shape;1390;p22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1" name="Google Shape;1391;p22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2" name="Google Shape;1392;p22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3" name="Google Shape;1393;p22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4" name="Google Shape;1394;p22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5" name="Google Shape;1395;p22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6" name="Google Shape;1396;p22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97" name="Google Shape;1397;p22"/>
          <p:cNvSpPr txBox="1"/>
          <p:nvPr/>
        </p:nvSpPr>
        <p:spPr>
          <a:xfrm>
            <a:off x="8167500" y="1456801"/>
            <a:ext cx="4537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just need to swap 9 and 22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98" name="Google Shape;1398;p22"/>
          <p:cNvGrpSpPr/>
          <p:nvPr/>
        </p:nvGrpSpPr>
        <p:grpSpPr>
          <a:xfrm>
            <a:off x="2613375" y="1435467"/>
            <a:ext cx="609600" cy="4819075"/>
            <a:chOff x="480" y="1152"/>
            <a:chExt cx="300" cy="3000"/>
          </a:xfrm>
        </p:grpSpPr>
        <p:cxnSp>
          <p:nvCxnSpPr>
            <p:cNvPr id="1399" name="Google Shape;1399;p22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00" name="Google Shape;1400;p22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401" name="Google Shape;1401;p22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2" name="Google Shape;1402;p22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3" name="Google Shape;1403;p22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4" name="Google Shape;1404;p22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5" name="Google Shape;1405;p22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6" name="Google Shape;1406;p22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7" name="Google Shape;1407;p22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8" name="Google Shape;1408;p22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09" name="Google Shape;1409;p22"/>
          <p:cNvGrpSpPr/>
          <p:nvPr/>
        </p:nvGrpSpPr>
        <p:grpSpPr>
          <a:xfrm>
            <a:off x="3230500" y="1444217"/>
            <a:ext cx="609600" cy="4819075"/>
            <a:chOff x="480" y="1152"/>
            <a:chExt cx="300" cy="3000"/>
          </a:xfrm>
        </p:grpSpPr>
        <p:cxnSp>
          <p:nvCxnSpPr>
            <p:cNvPr id="1410" name="Google Shape;1410;p22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11" name="Google Shape;1411;p22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412" name="Google Shape;1412;p22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3" name="Google Shape;1413;p22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4" name="Google Shape;1414;p22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5" name="Google Shape;1415;p22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6" name="Google Shape;1416;p22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7" name="Google Shape;1417;p22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8" name="Google Shape;1418;p22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9" name="Google Shape;1419;p22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20" name="Google Shape;1420;p22"/>
          <p:cNvGrpSpPr/>
          <p:nvPr/>
        </p:nvGrpSpPr>
        <p:grpSpPr>
          <a:xfrm>
            <a:off x="3847625" y="1435467"/>
            <a:ext cx="609600" cy="4819075"/>
            <a:chOff x="480" y="1152"/>
            <a:chExt cx="300" cy="3000"/>
          </a:xfrm>
        </p:grpSpPr>
        <p:cxnSp>
          <p:nvCxnSpPr>
            <p:cNvPr id="1421" name="Google Shape;1421;p22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22" name="Google Shape;1422;p22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423" name="Google Shape;1423;p22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4" name="Google Shape;1424;p22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5" name="Google Shape;1425;p22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6" name="Google Shape;1426;p22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7" name="Google Shape;1427;p22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8" name="Google Shape;1428;p22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9" name="Google Shape;1429;p22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0" name="Google Shape;1430;p22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31" name="Google Shape;1431;p22"/>
          <p:cNvGrpSpPr/>
          <p:nvPr/>
        </p:nvGrpSpPr>
        <p:grpSpPr>
          <a:xfrm>
            <a:off x="4464750" y="1439842"/>
            <a:ext cx="609600" cy="4819075"/>
            <a:chOff x="480" y="1152"/>
            <a:chExt cx="300" cy="3000"/>
          </a:xfrm>
        </p:grpSpPr>
        <p:cxnSp>
          <p:nvCxnSpPr>
            <p:cNvPr id="1432" name="Google Shape;1432;p22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3" name="Google Shape;1433;p22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434" name="Google Shape;1434;p22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5" name="Google Shape;1435;p22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6" name="Google Shape;1436;p22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7" name="Google Shape;1437;p22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8" name="Google Shape;1438;p22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9" name="Google Shape;1439;p22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0" name="Google Shape;1440;p22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1" name="Google Shape;1441;p22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42" name="Google Shape;1442;p22"/>
          <p:cNvGrpSpPr/>
          <p:nvPr/>
        </p:nvGrpSpPr>
        <p:grpSpPr>
          <a:xfrm>
            <a:off x="5074350" y="1439842"/>
            <a:ext cx="609600" cy="4819075"/>
            <a:chOff x="480" y="1152"/>
            <a:chExt cx="300" cy="3000"/>
          </a:xfrm>
        </p:grpSpPr>
        <p:cxnSp>
          <p:nvCxnSpPr>
            <p:cNvPr id="1443" name="Google Shape;1443;p22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44" name="Google Shape;1444;p22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445" name="Google Shape;1445;p22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6" name="Google Shape;1446;p22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7" name="Google Shape;1447;p22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8" name="Google Shape;1448;p22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9" name="Google Shape;1449;p22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0" name="Google Shape;1450;p22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1" name="Google Shape;1451;p22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2" name="Google Shape;1452;p22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53" name="Google Shape;1453;p22"/>
          <p:cNvGrpSpPr/>
          <p:nvPr/>
        </p:nvGrpSpPr>
        <p:grpSpPr>
          <a:xfrm>
            <a:off x="5691475" y="1439842"/>
            <a:ext cx="609600" cy="4819075"/>
            <a:chOff x="480" y="1152"/>
            <a:chExt cx="300" cy="3000"/>
          </a:xfrm>
        </p:grpSpPr>
        <p:cxnSp>
          <p:nvCxnSpPr>
            <p:cNvPr id="1454" name="Google Shape;1454;p22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55" name="Google Shape;1455;p22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456" name="Google Shape;1456;p22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7" name="Google Shape;1457;p22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8" name="Google Shape;1458;p22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9" name="Google Shape;1459;p22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0" name="Google Shape;1460;p22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1" name="Google Shape;1461;p22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2" name="Google Shape;1462;p22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3" name="Google Shape;1463;p22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64" name="Google Shape;1464;p22"/>
          <p:cNvGrpSpPr/>
          <p:nvPr/>
        </p:nvGrpSpPr>
        <p:grpSpPr>
          <a:xfrm>
            <a:off x="6308600" y="1448592"/>
            <a:ext cx="609600" cy="4819075"/>
            <a:chOff x="480" y="1152"/>
            <a:chExt cx="300" cy="3000"/>
          </a:xfrm>
        </p:grpSpPr>
        <p:cxnSp>
          <p:nvCxnSpPr>
            <p:cNvPr id="1465" name="Google Shape;1465;p22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66" name="Google Shape;1466;p22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467" name="Google Shape;1467;p22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8" name="Google Shape;1468;p22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9" name="Google Shape;1469;p22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0" name="Google Shape;1470;p22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1" name="Google Shape;1471;p22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2" name="Google Shape;1472;p22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3" name="Google Shape;1473;p22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4" name="Google Shape;1474;p22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75" name="Google Shape;1475;p22"/>
          <p:cNvGrpSpPr/>
          <p:nvPr/>
        </p:nvGrpSpPr>
        <p:grpSpPr>
          <a:xfrm>
            <a:off x="6925725" y="1439842"/>
            <a:ext cx="609600" cy="4819075"/>
            <a:chOff x="480" y="1152"/>
            <a:chExt cx="300" cy="3000"/>
          </a:xfrm>
        </p:grpSpPr>
        <p:cxnSp>
          <p:nvCxnSpPr>
            <p:cNvPr id="1476" name="Google Shape;1476;p22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7" name="Google Shape;1477;p22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478" name="Google Shape;1478;p22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9" name="Google Shape;1479;p22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0" name="Google Shape;1480;p22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1" name="Google Shape;1481;p22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2" name="Google Shape;1482;p22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3" name="Google Shape;1483;p22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4" name="Google Shape;1484;p22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5" name="Google Shape;1485;p22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86" name="Google Shape;1486;p22"/>
          <p:cNvGrpSpPr/>
          <p:nvPr/>
        </p:nvGrpSpPr>
        <p:grpSpPr>
          <a:xfrm>
            <a:off x="7542850" y="1448592"/>
            <a:ext cx="609600" cy="4819075"/>
            <a:chOff x="480" y="1152"/>
            <a:chExt cx="300" cy="3000"/>
          </a:xfrm>
        </p:grpSpPr>
        <p:cxnSp>
          <p:nvCxnSpPr>
            <p:cNvPr id="1487" name="Google Shape;1487;p22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88" name="Google Shape;1488;p22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489" name="Google Shape;1489;p22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0" name="Google Shape;1490;p22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1" name="Google Shape;1491;p22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2" name="Google Shape;1492;p22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3" name="Google Shape;1493;p22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4" name="Google Shape;1494;p22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5" name="Google Shape;1495;p22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6" name="Google Shape;1496;p22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97" name="Google Shape;1497;p22"/>
          <p:cNvGrpSpPr/>
          <p:nvPr/>
        </p:nvGrpSpPr>
        <p:grpSpPr>
          <a:xfrm>
            <a:off x="1996250" y="1435467"/>
            <a:ext cx="609600" cy="4819075"/>
            <a:chOff x="480" y="1152"/>
            <a:chExt cx="300" cy="3000"/>
          </a:xfrm>
        </p:grpSpPr>
        <p:cxnSp>
          <p:nvCxnSpPr>
            <p:cNvPr id="1498" name="Google Shape;1498;p22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99" name="Google Shape;1499;p22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500" name="Google Shape;1500;p22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1" name="Google Shape;1501;p22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2" name="Google Shape;1502;p22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3" name="Google Shape;1503;p22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4" name="Google Shape;1504;p22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5" name="Google Shape;1505;p22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6" name="Google Shape;1506;p22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7" name="Google Shape;1507;p22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08" name="Google Shape;1508;p22"/>
          <p:cNvSpPr/>
          <p:nvPr/>
        </p:nvSpPr>
        <p:spPr>
          <a:xfrm>
            <a:off x="2617138" y="1444155"/>
            <a:ext cx="609600" cy="4819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09" name="Google Shape;1509;p22"/>
          <p:cNvSpPr/>
          <p:nvPr/>
        </p:nvSpPr>
        <p:spPr>
          <a:xfrm>
            <a:off x="2011300" y="1444142"/>
            <a:ext cx="609600" cy="4819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23"/>
          <p:cNvSpPr txBox="1"/>
          <p:nvPr/>
        </p:nvSpPr>
        <p:spPr>
          <a:xfrm>
            <a:off x="20275" y="-21950"/>
            <a:ext cx="85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 the heapsort algorithm manually by sorting the following 9 element array:</a:t>
            </a:r>
            <a:endParaRPr/>
          </a:p>
        </p:txBody>
      </p:sp>
      <p:sp>
        <p:nvSpPr>
          <p:cNvPr id="1515" name="Google Shape;1515;p23"/>
          <p:cNvSpPr txBox="1"/>
          <p:nvPr/>
        </p:nvSpPr>
        <p:spPr>
          <a:xfrm>
            <a:off x="-3" y="224480"/>
            <a:ext cx="8232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Data: [5, 22, 9, …, 28]  // the “elements” in the first column of below table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all steps (Use an application of choice to complete the assignment)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into a heap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Sort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16" name="Google Shape;1516;p23"/>
          <p:cNvSpPr/>
          <p:nvPr/>
        </p:nvSpPr>
        <p:spPr>
          <a:xfrm>
            <a:off x="228600" y="1517542"/>
            <a:ext cx="547800" cy="4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[ 0 ]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[ 1 ]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[ 2 ]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[ 3 ]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[ 4 ]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[ 5 ]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[ 6 ]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[ 7 ]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[ 8 ]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[ 9 ]</a:t>
            </a:r>
            <a:endParaRPr/>
          </a:p>
        </p:txBody>
      </p:sp>
      <p:grpSp>
        <p:nvGrpSpPr>
          <p:cNvPr id="1517" name="Google Shape;1517;p23"/>
          <p:cNvGrpSpPr/>
          <p:nvPr/>
        </p:nvGrpSpPr>
        <p:grpSpPr>
          <a:xfrm>
            <a:off x="762000" y="1441342"/>
            <a:ext cx="609600" cy="4762500"/>
            <a:chOff x="480" y="1152"/>
            <a:chExt cx="300" cy="3000"/>
          </a:xfrm>
        </p:grpSpPr>
        <p:cxnSp>
          <p:nvCxnSpPr>
            <p:cNvPr id="1518" name="Google Shape;1518;p23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19" name="Google Shape;1519;p23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22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28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48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54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63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76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81</a:t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92</a:t>
              </a:r>
              <a:endParaRPr b="1" sz="1600">
                <a:solidFill>
                  <a:schemeClr val="dk1"/>
                </a:solidFill>
              </a:endParaRPr>
            </a:p>
          </p:txBody>
        </p:sp>
        <p:cxnSp>
          <p:nvCxnSpPr>
            <p:cNvPr id="1520" name="Google Shape;1520;p23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1" name="Google Shape;1521;p23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2" name="Google Shape;1522;p23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3" name="Google Shape;1523;p23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4" name="Google Shape;1524;p23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5" name="Google Shape;1525;p23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6" name="Google Shape;1526;p23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7" name="Google Shape;1527;p23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28" name="Google Shape;1528;p23"/>
          <p:cNvSpPr txBox="1"/>
          <p:nvPr/>
        </p:nvSpPr>
        <p:spPr>
          <a:xfrm>
            <a:off x="7252900" y="625001"/>
            <a:ext cx="1274700" cy="554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</a:pPr>
            <a:r>
              <a:rPr b="1" i="1" lang="en-US" sz="1800">
                <a:solidFill>
                  <a:srgbClr val="FFFF00"/>
                </a:solidFill>
              </a:rPr>
              <a:t>Sort Pass 9</a:t>
            </a:r>
            <a:endParaRPr/>
          </a:p>
        </p:txBody>
      </p:sp>
      <p:grpSp>
        <p:nvGrpSpPr>
          <p:cNvPr id="1529" name="Google Shape;1529;p23"/>
          <p:cNvGrpSpPr/>
          <p:nvPr/>
        </p:nvGrpSpPr>
        <p:grpSpPr>
          <a:xfrm>
            <a:off x="1386650" y="1435467"/>
            <a:ext cx="609600" cy="4819075"/>
            <a:chOff x="480" y="1152"/>
            <a:chExt cx="300" cy="3000"/>
          </a:xfrm>
        </p:grpSpPr>
        <p:cxnSp>
          <p:nvCxnSpPr>
            <p:cNvPr id="1530" name="Google Shape;1530;p23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31" name="Google Shape;1531;p23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00FF00"/>
                  </a:highlight>
                </a:rPr>
                <a:t>5</a:t>
              </a:r>
              <a:endParaRPr b="1" sz="1600">
                <a:solidFill>
                  <a:schemeClr val="dk1"/>
                </a:solidFill>
                <a:highlight>
                  <a:srgbClr val="00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  <a:highlight>
                  <a:srgbClr val="00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00FF00"/>
                  </a:highlight>
                </a:rPr>
                <a:t>9</a:t>
              </a:r>
              <a:endParaRPr b="1" sz="1600">
                <a:solidFill>
                  <a:schemeClr val="dk1"/>
                </a:solidFill>
                <a:highlight>
                  <a:srgbClr val="00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  <a:highlight>
                  <a:srgbClr val="00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00FF00"/>
                  </a:highlight>
                </a:rPr>
                <a:t>22</a:t>
              </a:r>
              <a:endParaRPr b="1" sz="1600">
                <a:solidFill>
                  <a:schemeClr val="dk1"/>
                </a:solidFill>
                <a:highlight>
                  <a:srgbClr val="00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  <a:highlight>
                  <a:srgbClr val="00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00FF00"/>
                  </a:highlight>
                </a:rPr>
                <a:t>28</a:t>
              </a:r>
              <a:endParaRPr b="1" sz="1600">
                <a:solidFill>
                  <a:schemeClr val="dk1"/>
                </a:solidFill>
                <a:highlight>
                  <a:srgbClr val="00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  <a:highlight>
                  <a:srgbClr val="00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00FF00"/>
                  </a:highlight>
                </a:rPr>
                <a:t>48</a:t>
              </a:r>
              <a:endParaRPr b="1" sz="1600">
                <a:solidFill>
                  <a:schemeClr val="dk1"/>
                </a:solidFill>
                <a:highlight>
                  <a:srgbClr val="00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  <a:highlight>
                  <a:srgbClr val="00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00FF00"/>
                  </a:highlight>
                </a:rPr>
                <a:t>54</a:t>
              </a:r>
              <a:endParaRPr b="1" sz="1600">
                <a:solidFill>
                  <a:schemeClr val="dk1"/>
                </a:solidFill>
                <a:highlight>
                  <a:srgbClr val="00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  <a:highlight>
                  <a:srgbClr val="00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00FF00"/>
                  </a:highlight>
                </a:rPr>
                <a:t>63</a:t>
              </a:r>
              <a:endParaRPr b="1" sz="1600">
                <a:solidFill>
                  <a:schemeClr val="dk1"/>
                </a:solidFill>
                <a:highlight>
                  <a:srgbClr val="00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  <a:highlight>
                  <a:srgbClr val="00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00FF00"/>
                  </a:highlight>
                </a:rPr>
                <a:t>76</a:t>
              </a:r>
              <a:endParaRPr b="1" sz="1600">
                <a:solidFill>
                  <a:schemeClr val="dk1"/>
                </a:solidFill>
                <a:highlight>
                  <a:srgbClr val="00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  <a:highlight>
                  <a:srgbClr val="00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00FF00"/>
                  </a:highlight>
                </a:rPr>
                <a:t>81</a:t>
              </a:r>
              <a:endParaRPr b="1" sz="1600">
                <a:solidFill>
                  <a:schemeClr val="dk1"/>
                </a:solidFill>
                <a:highlight>
                  <a:srgbClr val="00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  <a:highlight>
                  <a:srgbClr val="00FF0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highlight>
                    <a:srgbClr val="00FF00"/>
                  </a:highlight>
                </a:rPr>
                <a:t>92</a:t>
              </a:r>
              <a:endParaRPr sz="1800">
                <a:solidFill>
                  <a:schemeClr val="dk1"/>
                </a:solidFill>
                <a:highlight>
                  <a:srgbClr val="00FF00"/>
                </a:highlight>
              </a:endParaRPr>
            </a:p>
          </p:txBody>
        </p:sp>
        <p:cxnSp>
          <p:nvCxnSpPr>
            <p:cNvPr id="1532" name="Google Shape;1532;p23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3" name="Google Shape;1533;p23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4" name="Google Shape;1534;p23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5" name="Google Shape;1535;p23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6" name="Google Shape;1536;p23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7" name="Google Shape;1537;p23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8" name="Google Shape;1538;p23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9" name="Google Shape;1539;p23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40" name="Google Shape;1540;p23"/>
          <p:cNvSpPr txBox="1"/>
          <p:nvPr/>
        </p:nvSpPr>
        <p:spPr>
          <a:xfrm>
            <a:off x="8167500" y="1456801"/>
            <a:ext cx="4537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Finally, we swap 9 and 5.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41" name="Google Shape;1541;p23"/>
          <p:cNvGrpSpPr/>
          <p:nvPr/>
        </p:nvGrpSpPr>
        <p:grpSpPr>
          <a:xfrm>
            <a:off x="2613375" y="1435467"/>
            <a:ext cx="609600" cy="4819075"/>
            <a:chOff x="480" y="1152"/>
            <a:chExt cx="300" cy="3000"/>
          </a:xfrm>
        </p:grpSpPr>
        <p:cxnSp>
          <p:nvCxnSpPr>
            <p:cNvPr id="1542" name="Google Shape;1542;p23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43" name="Google Shape;1543;p23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544" name="Google Shape;1544;p23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5" name="Google Shape;1545;p23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6" name="Google Shape;1546;p23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7" name="Google Shape;1547;p23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8" name="Google Shape;1548;p23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9" name="Google Shape;1549;p23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0" name="Google Shape;1550;p23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1" name="Google Shape;1551;p23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52" name="Google Shape;1552;p23"/>
          <p:cNvGrpSpPr/>
          <p:nvPr/>
        </p:nvGrpSpPr>
        <p:grpSpPr>
          <a:xfrm>
            <a:off x="3230500" y="1444217"/>
            <a:ext cx="609600" cy="4819075"/>
            <a:chOff x="480" y="1152"/>
            <a:chExt cx="300" cy="3000"/>
          </a:xfrm>
        </p:grpSpPr>
        <p:cxnSp>
          <p:nvCxnSpPr>
            <p:cNvPr id="1553" name="Google Shape;1553;p23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54" name="Google Shape;1554;p23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555" name="Google Shape;1555;p23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6" name="Google Shape;1556;p23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7" name="Google Shape;1557;p23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8" name="Google Shape;1558;p23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9" name="Google Shape;1559;p23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0" name="Google Shape;1560;p23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1" name="Google Shape;1561;p23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2" name="Google Shape;1562;p23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63" name="Google Shape;1563;p23"/>
          <p:cNvGrpSpPr/>
          <p:nvPr/>
        </p:nvGrpSpPr>
        <p:grpSpPr>
          <a:xfrm>
            <a:off x="3847625" y="1435467"/>
            <a:ext cx="609600" cy="4819075"/>
            <a:chOff x="480" y="1152"/>
            <a:chExt cx="300" cy="3000"/>
          </a:xfrm>
        </p:grpSpPr>
        <p:cxnSp>
          <p:nvCxnSpPr>
            <p:cNvPr id="1564" name="Google Shape;1564;p23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65" name="Google Shape;1565;p23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566" name="Google Shape;1566;p23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7" name="Google Shape;1567;p23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8" name="Google Shape;1568;p23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9" name="Google Shape;1569;p23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0" name="Google Shape;1570;p23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1" name="Google Shape;1571;p23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2" name="Google Shape;1572;p23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3" name="Google Shape;1573;p23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74" name="Google Shape;1574;p23"/>
          <p:cNvGrpSpPr/>
          <p:nvPr/>
        </p:nvGrpSpPr>
        <p:grpSpPr>
          <a:xfrm>
            <a:off x="4464750" y="1439842"/>
            <a:ext cx="609600" cy="4819075"/>
            <a:chOff x="480" y="1152"/>
            <a:chExt cx="300" cy="3000"/>
          </a:xfrm>
        </p:grpSpPr>
        <p:cxnSp>
          <p:nvCxnSpPr>
            <p:cNvPr id="1575" name="Google Shape;1575;p23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76" name="Google Shape;1576;p23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577" name="Google Shape;1577;p23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8" name="Google Shape;1578;p23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9" name="Google Shape;1579;p23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0" name="Google Shape;1580;p23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1" name="Google Shape;1581;p23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2" name="Google Shape;1582;p23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3" name="Google Shape;1583;p23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4" name="Google Shape;1584;p23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85" name="Google Shape;1585;p23"/>
          <p:cNvGrpSpPr/>
          <p:nvPr/>
        </p:nvGrpSpPr>
        <p:grpSpPr>
          <a:xfrm>
            <a:off x="5074350" y="1439842"/>
            <a:ext cx="609600" cy="4819075"/>
            <a:chOff x="480" y="1152"/>
            <a:chExt cx="300" cy="3000"/>
          </a:xfrm>
        </p:grpSpPr>
        <p:cxnSp>
          <p:nvCxnSpPr>
            <p:cNvPr id="1586" name="Google Shape;1586;p23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87" name="Google Shape;1587;p23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588" name="Google Shape;1588;p23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9" name="Google Shape;1589;p23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0" name="Google Shape;1590;p23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1" name="Google Shape;1591;p23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2" name="Google Shape;1592;p23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3" name="Google Shape;1593;p23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4" name="Google Shape;1594;p23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5" name="Google Shape;1595;p23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96" name="Google Shape;1596;p23"/>
          <p:cNvGrpSpPr/>
          <p:nvPr/>
        </p:nvGrpSpPr>
        <p:grpSpPr>
          <a:xfrm>
            <a:off x="5691475" y="1439842"/>
            <a:ext cx="609600" cy="4819075"/>
            <a:chOff x="480" y="1152"/>
            <a:chExt cx="300" cy="3000"/>
          </a:xfrm>
        </p:grpSpPr>
        <p:cxnSp>
          <p:nvCxnSpPr>
            <p:cNvPr id="1597" name="Google Shape;1597;p23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98" name="Google Shape;1598;p23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599" name="Google Shape;1599;p23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0" name="Google Shape;1600;p23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1" name="Google Shape;1601;p23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2" name="Google Shape;1602;p23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3" name="Google Shape;1603;p23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4" name="Google Shape;1604;p23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5" name="Google Shape;1605;p23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6" name="Google Shape;1606;p23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07" name="Google Shape;1607;p23"/>
          <p:cNvGrpSpPr/>
          <p:nvPr/>
        </p:nvGrpSpPr>
        <p:grpSpPr>
          <a:xfrm>
            <a:off x="6308600" y="1448592"/>
            <a:ext cx="609600" cy="4819075"/>
            <a:chOff x="480" y="1152"/>
            <a:chExt cx="300" cy="3000"/>
          </a:xfrm>
        </p:grpSpPr>
        <p:cxnSp>
          <p:nvCxnSpPr>
            <p:cNvPr id="1608" name="Google Shape;1608;p23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09" name="Google Shape;1609;p23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610" name="Google Shape;1610;p23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1" name="Google Shape;1611;p23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2" name="Google Shape;1612;p23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3" name="Google Shape;1613;p23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4" name="Google Shape;1614;p23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5" name="Google Shape;1615;p23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6" name="Google Shape;1616;p23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7" name="Google Shape;1617;p23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18" name="Google Shape;1618;p23"/>
          <p:cNvGrpSpPr/>
          <p:nvPr/>
        </p:nvGrpSpPr>
        <p:grpSpPr>
          <a:xfrm>
            <a:off x="6925725" y="1439842"/>
            <a:ext cx="609600" cy="4819075"/>
            <a:chOff x="480" y="1152"/>
            <a:chExt cx="300" cy="3000"/>
          </a:xfrm>
        </p:grpSpPr>
        <p:cxnSp>
          <p:nvCxnSpPr>
            <p:cNvPr id="1619" name="Google Shape;1619;p23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20" name="Google Shape;1620;p23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621" name="Google Shape;1621;p23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2" name="Google Shape;1622;p23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3" name="Google Shape;1623;p23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4" name="Google Shape;1624;p23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5" name="Google Shape;1625;p23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6" name="Google Shape;1626;p23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7" name="Google Shape;1627;p23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8" name="Google Shape;1628;p23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29" name="Google Shape;1629;p23"/>
          <p:cNvGrpSpPr/>
          <p:nvPr/>
        </p:nvGrpSpPr>
        <p:grpSpPr>
          <a:xfrm>
            <a:off x="7542850" y="1448592"/>
            <a:ext cx="609600" cy="4819075"/>
            <a:chOff x="480" y="1152"/>
            <a:chExt cx="300" cy="3000"/>
          </a:xfrm>
        </p:grpSpPr>
        <p:cxnSp>
          <p:nvCxnSpPr>
            <p:cNvPr id="1630" name="Google Shape;1630;p23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31" name="Google Shape;1631;p23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632" name="Google Shape;1632;p23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3" name="Google Shape;1633;p23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4" name="Google Shape;1634;p23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5" name="Google Shape;1635;p23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6" name="Google Shape;1636;p23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7" name="Google Shape;1637;p23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8" name="Google Shape;1638;p23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9" name="Google Shape;1639;p23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40" name="Google Shape;1640;p23"/>
          <p:cNvGrpSpPr/>
          <p:nvPr/>
        </p:nvGrpSpPr>
        <p:grpSpPr>
          <a:xfrm>
            <a:off x="1996250" y="1435467"/>
            <a:ext cx="609600" cy="4819075"/>
            <a:chOff x="480" y="1152"/>
            <a:chExt cx="300" cy="3000"/>
          </a:xfrm>
        </p:grpSpPr>
        <p:cxnSp>
          <p:nvCxnSpPr>
            <p:cNvPr id="1641" name="Google Shape;1641;p23"/>
            <p:cNvCxnSpPr/>
            <p:nvPr/>
          </p:nvCxnSpPr>
          <p:spPr>
            <a:xfrm>
              <a:off x="480" y="144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42" name="Google Shape;1642;p23"/>
            <p:cNvSpPr/>
            <p:nvPr/>
          </p:nvSpPr>
          <p:spPr>
            <a:xfrm>
              <a:off x="480" y="1152"/>
              <a:ext cx="300" cy="30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1643" name="Google Shape;1643;p23"/>
            <p:cNvCxnSpPr/>
            <p:nvPr/>
          </p:nvCxnSpPr>
          <p:spPr>
            <a:xfrm>
              <a:off x="480" y="17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4" name="Google Shape;1644;p23"/>
            <p:cNvCxnSpPr/>
            <p:nvPr/>
          </p:nvCxnSpPr>
          <p:spPr>
            <a:xfrm>
              <a:off x="480" y="206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5" name="Google Shape;1645;p23"/>
            <p:cNvCxnSpPr/>
            <p:nvPr/>
          </p:nvCxnSpPr>
          <p:spPr>
            <a:xfrm>
              <a:off x="480" y="235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6" name="Google Shape;1646;p23"/>
            <p:cNvCxnSpPr/>
            <p:nvPr/>
          </p:nvCxnSpPr>
          <p:spPr>
            <a:xfrm>
              <a:off x="480" y="2688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7" name="Google Shape;1647;p23"/>
            <p:cNvCxnSpPr/>
            <p:nvPr/>
          </p:nvCxnSpPr>
          <p:spPr>
            <a:xfrm>
              <a:off x="480" y="297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8" name="Google Shape;1648;p23"/>
            <p:cNvCxnSpPr/>
            <p:nvPr/>
          </p:nvCxnSpPr>
          <p:spPr>
            <a:xfrm>
              <a:off x="480" y="3312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9" name="Google Shape;1649;p23"/>
            <p:cNvCxnSpPr/>
            <p:nvPr/>
          </p:nvCxnSpPr>
          <p:spPr>
            <a:xfrm>
              <a:off x="480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0" name="Google Shape;1650;p23"/>
            <p:cNvCxnSpPr/>
            <p:nvPr/>
          </p:nvCxnSpPr>
          <p:spPr>
            <a:xfrm>
              <a:off x="480" y="3936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51" name="Google Shape;1651;p23"/>
          <p:cNvSpPr/>
          <p:nvPr/>
        </p:nvSpPr>
        <p:spPr>
          <a:xfrm>
            <a:off x="2617138" y="1444155"/>
            <a:ext cx="609600" cy="4819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52" name="Google Shape;1652;p23"/>
          <p:cNvSpPr/>
          <p:nvPr/>
        </p:nvSpPr>
        <p:spPr>
          <a:xfrm>
            <a:off x="2011300" y="1444142"/>
            <a:ext cx="609600" cy="4819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24"/>
          <p:cNvSpPr txBox="1"/>
          <p:nvPr>
            <p:ph type="title"/>
          </p:nvPr>
        </p:nvSpPr>
        <p:spPr>
          <a:xfrm>
            <a:off x="3259125" y="0"/>
            <a:ext cx="29007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Build Heap</a:t>
            </a:r>
            <a:endParaRPr/>
          </a:p>
        </p:txBody>
      </p:sp>
      <p:sp>
        <p:nvSpPr>
          <p:cNvPr id="1658" name="Google Shape;1658;p24"/>
          <p:cNvSpPr txBox="1"/>
          <p:nvPr>
            <p:ph idx="4294967295" type="subTitle"/>
          </p:nvPr>
        </p:nvSpPr>
        <p:spPr>
          <a:xfrm>
            <a:off x="286350" y="543125"/>
            <a:ext cx="8571300" cy="23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 index = length/2-1.  This is the parent of the last node in the tree, i.e. list[index + 1] . . . list[length-1] are leaves</a:t>
            </a:r>
            <a:endParaRPr/>
          </a:p>
          <a:p>
            <a:pPr indent="-609600" lvl="0" marL="6096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 the subtree with root of list[index] into a heap.</a:t>
            </a:r>
            <a:endParaRPr/>
          </a:p>
          <a:p>
            <a:pPr indent="-457200" lvl="2" marL="13716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L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list[a] is root of tree, list[b] is left child (root *2 +1), list[c] is right child (root*2+2), if exists</a:t>
            </a:r>
            <a:endParaRPr/>
          </a:p>
          <a:p>
            <a:pPr indent="-457200" lvl="2" marL="13716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L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list[b] with list[c] to determine larger child, list[largerIndex]</a:t>
            </a:r>
            <a:endParaRPr/>
          </a:p>
          <a:p>
            <a:pPr indent="-457200" lvl="2" marL="13716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L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list[a] with list[largerIndex].  If list[a] &lt; list[largerIndex], then swap, else already a heap</a:t>
            </a:r>
            <a:endParaRPr/>
          </a:p>
          <a:p>
            <a:pPr indent="-457200" lvl="2" marL="13716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L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swap, repeat step 2 for the subtree of list[largerIndex]</a:t>
            </a:r>
            <a:endParaRPr/>
          </a:p>
          <a:p>
            <a:pPr indent="-609600" lvl="0" marL="6096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 the subtree with the root of list[index-1] into a heap, repeat until list[0]</a:t>
            </a:r>
            <a:endParaRPr/>
          </a:p>
        </p:txBody>
      </p:sp>
      <p:sp>
        <p:nvSpPr>
          <p:cNvPr id="1659" name="Google Shape;1659;p24"/>
          <p:cNvSpPr txBox="1"/>
          <p:nvPr/>
        </p:nvSpPr>
        <p:spPr>
          <a:xfrm>
            <a:off x="3657600" y="3239953"/>
            <a:ext cx="155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Heap Sort</a:t>
            </a:r>
            <a:endParaRPr/>
          </a:p>
        </p:txBody>
      </p:sp>
      <p:sp>
        <p:nvSpPr>
          <p:cNvPr id="1660" name="Google Shape;1660;p24"/>
          <p:cNvSpPr txBox="1"/>
          <p:nvPr/>
        </p:nvSpPr>
        <p:spPr>
          <a:xfrm>
            <a:off x="1219200" y="3973378"/>
            <a:ext cx="5162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Swap the root with the end of the list.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Heapify the list up to but not including the root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 until there is only one node in the list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25"/>
          <p:cNvSpPr txBox="1"/>
          <p:nvPr>
            <p:ph type="title"/>
          </p:nvPr>
        </p:nvSpPr>
        <p:spPr>
          <a:xfrm>
            <a:off x="457200" y="4572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Heap Sort in Java | Tutorial</a:t>
            </a:r>
            <a:endParaRPr/>
          </a:p>
        </p:txBody>
      </p:sp>
      <p:sp>
        <p:nvSpPr>
          <p:cNvPr id="1666" name="Google Shape;1666;p25"/>
          <p:cNvSpPr txBox="1"/>
          <p:nvPr>
            <p:ph idx="4294967295" type="subTitle"/>
          </p:nvPr>
        </p:nvSpPr>
        <p:spPr>
          <a:xfrm>
            <a:off x="457200" y="1419225"/>
            <a:ext cx="7207250" cy="4981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 the following tutorial (as best as you can)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https://stackabuse.com/heap-sort-in-java/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a new Ellipse project, get the provided code (heapify(), headSort() from the tutorial to work.  From there, you can code insert() and delete() if you like.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are here to learn how Heap works and how to code it</a:t>
            </a:r>
            <a:endParaRPr/>
          </a:p>
          <a:p>
            <a:pPr indent="-285750" lvl="1" marL="7429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your java code in your submission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Simply submit any code that you have completed while working on the tutorial.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Discuss your overall learning experience</a:t>
            </a:r>
            <a:endParaRPr/>
          </a:p>
          <a:p>
            <a:pPr indent="-158750" lvl="1" marL="74295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1" name="Google Shape;1671;p26"/>
          <p:cNvGrpSpPr/>
          <p:nvPr/>
        </p:nvGrpSpPr>
        <p:grpSpPr>
          <a:xfrm>
            <a:off x="4054475" y="1358900"/>
            <a:ext cx="609600" cy="4876800"/>
            <a:chOff x="480" y="1152"/>
            <a:chExt cx="384" cy="3072"/>
          </a:xfrm>
        </p:grpSpPr>
        <p:cxnSp>
          <p:nvCxnSpPr>
            <p:cNvPr id="1672" name="Google Shape;1672;p26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73" name="Google Shape;1673;p26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74" name="Google Shape;1674;p26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5" name="Google Shape;1675;p26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6" name="Google Shape;1676;p26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7" name="Google Shape;1677;p26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8" name="Google Shape;1678;p26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9" name="Google Shape;1679;p26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0" name="Google Shape;1680;p26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1" name="Google Shape;1681;p26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82" name="Google Shape;1682;p26"/>
          <p:cNvGrpSpPr/>
          <p:nvPr/>
        </p:nvGrpSpPr>
        <p:grpSpPr>
          <a:xfrm>
            <a:off x="4664075" y="1358900"/>
            <a:ext cx="609600" cy="4876800"/>
            <a:chOff x="480" y="1152"/>
            <a:chExt cx="384" cy="3072"/>
          </a:xfrm>
        </p:grpSpPr>
        <p:cxnSp>
          <p:nvCxnSpPr>
            <p:cNvPr id="1683" name="Google Shape;1683;p26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84" name="Google Shape;1684;p26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85" name="Google Shape;1685;p26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6" name="Google Shape;1686;p26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7" name="Google Shape;1687;p26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8" name="Google Shape;1688;p26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9" name="Google Shape;1689;p26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0" name="Google Shape;1690;p26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1" name="Google Shape;1691;p26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2" name="Google Shape;1692;p26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93" name="Google Shape;1693;p26"/>
          <p:cNvGrpSpPr/>
          <p:nvPr/>
        </p:nvGrpSpPr>
        <p:grpSpPr>
          <a:xfrm>
            <a:off x="5273675" y="1358900"/>
            <a:ext cx="609600" cy="4876800"/>
            <a:chOff x="480" y="1152"/>
            <a:chExt cx="384" cy="3072"/>
          </a:xfrm>
        </p:grpSpPr>
        <p:cxnSp>
          <p:nvCxnSpPr>
            <p:cNvPr id="1694" name="Google Shape;1694;p26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95" name="Google Shape;1695;p26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96" name="Google Shape;1696;p26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7" name="Google Shape;1697;p26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8" name="Google Shape;1698;p26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9" name="Google Shape;1699;p26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0" name="Google Shape;1700;p26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1" name="Google Shape;1701;p26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2" name="Google Shape;1702;p26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3" name="Google Shape;1703;p26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04" name="Google Shape;1704;p26"/>
          <p:cNvGrpSpPr/>
          <p:nvPr/>
        </p:nvGrpSpPr>
        <p:grpSpPr>
          <a:xfrm>
            <a:off x="5883275" y="1358900"/>
            <a:ext cx="609600" cy="4876800"/>
            <a:chOff x="480" y="1152"/>
            <a:chExt cx="384" cy="3072"/>
          </a:xfrm>
        </p:grpSpPr>
        <p:cxnSp>
          <p:nvCxnSpPr>
            <p:cNvPr id="1705" name="Google Shape;1705;p26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06" name="Google Shape;1706;p26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07" name="Google Shape;1707;p26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8" name="Google Shape;1708;p26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9" name="Google Shape;1709;p26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0" name="Google Shape;1710;p26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1" name="Google Shape;1711;p26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2" name="Google Shape;1712;p26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3" name="Google Shape;1713;p26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4" name="Google Shape;1714;p26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15" name="Google Shape;1715;p26"/>
          <p:cNvGrpSpPr/>
          <p:nvPr/>
        </p:nvGrpSpPr>
        <p:grpSpPr>
          <a:xfrm>
            <a:off x="6492875" y="1358900"/>
            <a:ext cx="609600" cy="4876800"/>
            <a:chOff x="480" y="1152"/>
            <a:chExt cx="384" cy="3072"/>
          </a:xfrm>
        </p:grpSpPr>
        <p:cxnSp>
          <p:nvCxnSpPr>
            <p:cNvPr id="1716" name="Google Shape;1716;p26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17" name="Google Shape;1717;p26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18" name="Google Shape;1718;p26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9" name="Google Shape;1719;p26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0" name="Google Shape;1720;p26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1" name="Google Shape;1721;p26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2" name="Google Shape;1722;p26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3" name="Google Shape;1723;p26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4" name="Google Shape;1724;p26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5" name="Google Shape;1725;p26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26" name="Google Shape;1726;p26"/>
          <p:cNvGrpSpPr/>
          <p:nvPr/>
        </p:nvGrpSpPr>
        <p:grpSpPr>
          <a:xfrm>
            <a:off x="3444875" y="1358900"/>
            <a:ext cx="609600" cy="4876800"/>
            <a:chOff x="480" y="1152"/>
            <a:chExt cx="384" cy="3072"/>
          </a:xfrm>
        </p:grpSpPr>
        <p:cxnSp>
          <p:nvCxnSpPr>
            <p:cNvPr id="1727" name="Google Shape;1727;p26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28" name="Google Shape;1728;p26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29" name="Google Shape;1729;p26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0" name="Google Shape;1730;p26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1" name="Google Shape;1731;p26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2" name="Google Shape;1732;p26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3" name="Google Shape;1733;p26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4" name="Google Shape;1734;p26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5" name="Google Shape;1735;p26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6" name="Google Shape;1736;p26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37" name="Google Shape;1737;p26"/>
          <p:cNvGrpSpPr/>
          <p:nvPr/>
        </p:nvGrpSpPr>
        <p:grpSpPr>
          <a:xfrm>
            <a:off x="2835275" y="1358900"/>
            <a:ext cx="609600" cy="4876800"/>
            <a:chOff x="480" y="1152"/>
            <a:chExt cx="384" cy="3072"/>
          </a:xfrm>
        </p:grpSpPr>
        <p:cxnSp>
          <p:nvCxnSpPr>
            <p:cNvPr id="1738" name="Google Shape;1738;p26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39" name="Google Shape;1739;p26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40" name="Google Shape;1740;p26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1" name="Google Shape;1741;p26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2" name="Google Shape;1742;p26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3" name="Google Shape;1743;p26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4" name="Google Shape;1744;p26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5" name="Google Shape;1745;p26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6" name="Google Shape;1746;p26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7" name="Google Shape;1747;p26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48" name="Google Shape;1748;p26"/>
          <p:cNvGrpSpPr/>
          <p:nvPr/>
        </p:nvGrpSpPr>
        <p:grpSpPr>
          <a:xfrm>
            <a:off x="2225675" y="1358900"/>
            <a:ext cx="609600" cy="4876800"/>
            <a:chOff x="480" y="1152"/>
            <a:chExt cx="384" cy="3072"/>
          </a:xfrm>
        </p:grpSpPr>
        <p:cxnSp>
          <p:nvCxnSpPr>
            <p:cNvPr id="1749" name="Google Shape;1749;p26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50" name="Google Shape;1750;p26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51" name="Google Shape;1751;p26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2" name="Google Shape;1752;p26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3" name="Google Shape;1753;p26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4" name="Google Shape;1754;p26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5" name="Google Shape;1755;p26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6" name="Google Shape;1756;p26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7" name="Google Shape;1757;p26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8" name="Google Shape;1758;p26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59" name="Google Shape;1759;p26"/>
          <p:cNvGrpSpPr/>
          <p:nvPr/>
        </p:nvGrpSpPr>
        <p:grpSpPr>
          <a:xfrm>
            <a:off x="1616075" y="1358900"/>
            <a:ext cx="609600" cy="4876800"/>
            <a:chOff x="480" y="1152"/>
            <a:chExt cx="384" cy="3072"/>
          </a:xfrm>
        </p:grpSpPr>
        <p:cxnSp>
          <p:nvCxnSpPr>
            <p:cNvPr id="1760" name="Google Shape;1760;p26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61" name="Google Shape;1761;p26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62" name="Google Shape;1762;p26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3" name="Google Shape;1763;p26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4" name="Google Shape;1764;p26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5" name="Google Shape;1765;p26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6" name="Google Shape;1766;p26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7" name="Google Shape;1767;p26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8" name="Google Shape;1768;p26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9" name="Google Shape;1769;p26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70" name="Google Shape;1770;p26"/>
          <p:cNvGrpSpPr/>
          <p:nvPr/>
        </p:nvGrpSpPr>
        <p:grpSpPr>
          <a:xfrm>
            <a:off x="1006475" y="1358900"/>
            <a:ext cx="609600" cy="4876800"/>
            <a:chOff x="480" y="1152"/>
            <a:chExt cx="384" cy="3072"/>
          </a:xfrm>
        </p:grpSpPr>
        <p:cxnSp>
          <p:nvCxnSpPr>
            <p:cNvPr id="1771" name="Google Shape;1771;p26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72" name="Google Shape;1772;p26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73" name="Google Shape;1773;p26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4" name="Google Shape;1774;p26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5" name="Google Shape;1775;p26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6" name="Google Shape;1776;p26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7" name="Google Shape;1777;p26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8" name="Google Shape;1778;p26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9" name="Google Shape;1779;p26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0" name="Google Shape;1780;p26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81" name="Google Shape;1781;p26"/>
          <p:cNvSpPr/>
          <p:nvPr/>
        </p:nvSpPr>
        <p:spPr>
          <a:xfrm>
            <a:off x="300038" y="1436688"/>
            <a:ext cx="547687" cy="4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[ 0 ]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[ 1 ]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[ 2 ]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[ 3 ]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[ 4 ]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[ 5 ]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[ 6 ]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[ 7 ]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[ 8 ]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[ 9 ]</a:t>
            </a:r>
            <a:endParaRPr/>
          </a:p>
        </p:txBody>
      </p:sp>
      <p:grpSp>
        <p:nvGrpSpPr>
          <p:cNvPr id="1782" name="Google Shape;1782;p26"/>
          <p:cNvGrpSpPr/>
          <p:nvPr/>
        </p:nvGrpSpPr>
        <p:grpSpPr>
          <a:xfrm>
            <a:off x="7712075" y="1358900"/>
            <a:ext cx="609600" cy="4876800"/>
            <a:chOff x="480" y="1152"/>
            <a:chExt cx="384" cy="3072"/>
          </a:xfrm>
        </p:grpSpPr>
        <p:cxnSp>
          <p:nvCxnSpPr>
            <p:cNvPr id="1783" name="Google Shape;1783;p26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84" name="Google Shape;1784;p26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85" name="Google Shape;1785;p26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6" name="Google Shape;1786;p26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7" name="Google Shape;1787;p26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8" name="Google Shape;1788;p26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9" name="Google Shape;1789;p26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0" name="Google Shape;1790;p26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1" name="Google Shape;1791;p26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2" name="Google Shape;1792;p26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93" name="Google Shape;1793;p26"/>
          <p:cNvGrpSpPr/>
          <p:nvPr/>
        </p:nvGrpSpPr>
        <p:grpSpPr>
          <a:xfrm>
            <a:off x="7102475" y="1358900"/>
            <a:ext cx="609600" cy="4876800"/>
            <a:chOff x="480" y="1152"/>
            <a:chExt cx="384" cy="3072"/>
          </a:xfrm>
        </p:grpSpPr>
        <p:cxnSp>
          <p:nvCxnSpPr>
            <p:cNvPr id="1794" name="Google Shape;1794;p26"/>
            <p:cNvCxnSpPr/>
            <p:nvPr/>
          </p:nvCxnSpPr>
          <p:spPr>
            <a:xfrm>
              <a:off x="480" y="144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95" name="Google Shape;1795;p26"/>
            <p:cNvSpPr/>
            <p:nvPr/>
          </p:nvSpPr>
          <p:spPr>
            <a:xfrm>
              <a:off x="480" y="1152"/>
              <a:ext cx="384" cy="307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96" name="Google Shape;1796;p26"/>
            <p:cNvCxnSpPr/>
            <p:nvPr/>
          </p:nvCxnSpPr>
          <p:spPr>
            <a:xfrm>
              <a:off x="480" y="17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7" name="Google Shape;1797;p26"/>
            <p:cNvCxnSpPr/>
            <p:nvPr/>
          </p:nvCxnSpPr>
          <p:spPr>
            <a:xfrm>
              <a:off x="480" y="2064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8" name="Google Shape;1798;p26"/>
            <p:cNvCxnSpPr/>
            <p:nvPr/>
          </p:nvCxnSpPr>
          <p:spPr>
            <a:xfrm>
              <a:off x="480" y="235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9" name="Google Shape;1799;p26"/>
            <p:cNvCxnSpPr/>
            <p:nvPr/>
          </p:nvCxnSpPr>
          <p:spPr>
            <a:xfrm>
              <a:off x="480" y="2688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0" name="Google Shape;1800;p26"/>
            <p:cNvCxnSpPr/>
            <p:nvPr/>
          </p:nvCxnSpPr>
          <p:spPr>
            <a:xfrm>
              <a:off x="480" y="297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1" name="Google Shape;1801;p26"/>
            <p:cNvCxnSpPr/>
            <p:nvPr/>
          </p:nvCxnSpPr>
          <p:spPr>
            <a:xfrm>
              <a:off x="480" y="3312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2" name="Google Shape;1802;p26"/>
            <p:cNvCxnSpPr/>
            <p:nvPr/>
          </p:nvCxnSpPr>
          <p:spPr>
            <a:xfrm>
              <a:off x="480" y="3600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3" name="Google Shape;1803;p26"/>
            <p:cNvCxnSpPr/>
            <p:nvPr/>
          </p:nvCxnSpPr>
          <p:spPr>
            <a:xfrm>
              <a:off x="480" y="3936"/>
              <a:ext cx="3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04" name="Google Shape;1804;p26"/>
          <p:cNvSpPr txBox="1"/>
          <p:nvPr/>
        </p:nvSpPr>
        <p:spPr>
          <a:xfrm>
            <a:off x="1006475" y="300038"/>
            <a:ext cx="73152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 worksheet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