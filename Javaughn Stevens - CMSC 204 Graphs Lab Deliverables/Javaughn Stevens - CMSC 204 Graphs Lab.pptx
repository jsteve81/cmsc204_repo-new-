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9144000" cx="6858000"/>
  <p:notesSz cx="68580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8CDD49-3B25-4E60-87F1-38D98718681B}">
  <a:tblStyle styleId="{328CDD49-3B25-4E60-87F1-38D98718681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415775"/>
            <a:ext cx="5486400" cy="41833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415775"/>
            <a:ext cx="5486400" cy="41833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1143225" y="697225"/>
            <a:ext cx="45722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
          <p:cNvSpPr txBox="1"/>
          <p:nvPr>
            <p:ph type="title"/>
          </p:nvPr>
        </p:nvSpPr>
        <p:spPr>
          <a:xfrm>
            <a:off x="514350" y="812800"/>
            <a:ext cx="5829300" cy="1524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
          <p:cNvSpPr txBox="1"/>
          <p:nvPr>
            <p:ph idx="1" type="body"/>
          </p:nvPr>
        </p:nvSpPr>
        <p:spPr>
          <a:xfrm>
            <a:off x="514350" y="2641600"/>
            <a:ext cx="5829300" cy="5486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3"/>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514350" y="2840038"/>
            <a:ext cx="5829300" cy="19605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4"/>
          <p:cNvSpPr txBox="1"/>
          <p:nvPr>
            <p:ph idx="1" type="subTitle"/>
          </p:nvPr>
        </p:nvSpPr>
        <p:spPr>
          <a:xfrm>
            <a:off x="1028700" y="5181600"/>
            <a:ext cx="4800600" cy="23368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Times New Roman"/>
              <a:buNone/>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24" name="Google Shape;24;p4"/>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541338" y="5875338"/>
            <a:ext cx="5829300" cy="18161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5"/>
          <p:cNvSpPr txBox="1"/>
          <p:nvPr>
            <p:ph idx="1" type="body"/>
          </p:nvPr>
        </p:nvSpPr>
        <p:spPr>
          <a:xfrm>
            <a:off x="541338" y="3875088"/>
            <a:ext cx="5829300" cy="2000250"/>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Times New Roman"/>
              <a:buNone/>
              <a:defRPr sz="2000"/>
            </a:lvl1pPr>
            <a:lvl2pPr indent="-228600" lvl="1" marL="914400" algn="l">
              <a:spcBef>
                <a:spcPts val="360"/>
              </a:spcBef>
              <a:spcAft>
                <a:spcPts val="0"/>
              </a:spcAft>
              <a:buClr>
                <a:schemeClr val="dk1"/>
              </a:buClr>
              <a:buSzPts val="1800"/>
              <a:buFont typeface="Times New Roman"/>
              <a:buNone/>
              <a:defRPr sz="1800"/>
            </a:lvl2pPr>
            <a:lvl3pPr indent="-228600" lvl="2" marL="1371600" algn="l">
              <a:spcBef>
                <a:spcPts val="320"/>
              </a:spcBef>
              <a:spcAft>
                <a:spcPts val="0"/>
              </a:spcAft>
              <a:buClr>
                <a:schemeClr val="dk1"/>
              </a:buClr>
              <a:buSzPts val="1600"/>
              <a:buFont typeface="Times New Roman"/>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30" name="Google Shape;30;p5"/>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514350" y="812800"/>
            <a:ext cx="5829300" cy="1524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6"/>
          <p:cNvSpPr txBox="1"/>
          <p:nvPr>
            <p:ph idx="1" type="body"/>
          </p:nvPr>
        </p:nvSpPr>
        <p:spPr>
          <a:xfrm>
            <a:off x="514350" y="2641600"/>
            <a:ext cx="2838450" cy="54864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6" name="Google Shape;36;p6"/>
          <p:cNvSpPr txBox="1"/>
          <p:nvPr>
            <p:ph idx="2" type="body"/>
          </p:nvPr>
        </p:nvSpPr>
        <p:spPr>
          <a:xfrm>
            <a:off x="3505200" y="2641600"/>
            <a:ext cx="2838450" cy="54864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Times New Roman"/>
              <a:buChar char="•"/>
              <a:defRPr sz="2800"/>
            </a:lvl1pPr>
            <a:lvl2pPr indent="-381000" lvl="1" marL="914400" algn="l">
              <a:spcBef>
                <a:spcPts val="480"/>
              </a:spcBef>
              <a:spcAft>
                <a:spcPts val="0"/>
              </a:spcAft>
              <a:buClr>
                <a:schemeClr val="dk1"/>
              </a:buClr>
              <a:buSzPts val="2400"/>
              <a:buFont typeface="Times New Roman"/>
              <a:buChar char="–"/>
              <a:defRPr sz="2400"/>
            </a:lvl2pPr>
            <a:lvl3pPr indent="-355600" lvl="2" marL="1371600" algn="l">
              <a:spcBef>
                <a:spcPts val="400"/>
              </a:spcBef>
              <a:spcAft>
                <a:spcPts val="0"/>
              </a:spcAft>
              <a:buClr>
                <a:schemeClr val="dk1"/>
              </a:buClr>
              <a:buSzPts val="2000"/>
              <a:buFont typeface="Times New Roman"/>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37" name="Google Shape;37;p6"/>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342900" y="366713"/>
            <a:ext cx="6172200" cy="1524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7"/>
          <p:cNvSpPr txBox="1"/>
          <p:nvPr>
            <p:ph idx="1" type="body"/>
          </p:nvPr>
        </p:nvSpPr>
        <p:spPr>
          <a:xfrm>
            <a:off x="342900" y="2046288"/>
            <a:ext cx="3030538" cy="854075"/>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3" name="Google Shape;43;p7"/>
          <p:cNvSpPr txBox="1"/>
          <p:nvPr>
            <p:ph idx="2" type="body"/>
          </p:nvPr>
        </p:nvSpPr>
        <p:spPr>
          <a:xfrm>
            <a:off x="342900" y="2900363"/>
            <a:ext cx="3030538" cy="5267325"/>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4" name="Google Shape;44;p7"/>
          <p:cNvSpPr txBox="1"/>
          <p:nvPr>
            <p:ph idx="3" type="body"/>
          </p:nvPr>
        </p:nvSpPr>
        <p:spPr>
          <a:xfrm>
            <a:off x="3484563" y="2046288"/>
            <a:ext cx="3030537" cy="854075"/>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45" name="Google Shape;45;p7"/>
          <p:cNvSpPr txBox="1"/>
          <p:nvPr>
            <p:ph idx="4" type="body"/>
          </p:nvPr>
        </p:nvSpPr>
        <p:spPr>
          <a:xfrm>
            <a:off x="3484563" y="2900363"/>
            <a:ext cx="3030537" cy="5267325"/>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Times New Roman"/>
              <a:buChar char="•"/>
              <a:defRPr sz="2400"/>
            </a:lvl1pPr>
            <a:lvl2pPr indent="-355600" lvl="1" marL="914400" algn="l">
              <a:spcBef>
                <a:spcPts val="400"/>
              </a:spcBef>
              <a:spcAft>
                <a:spcPts val="0"/>
              </a:spcAft>
              <a:buClr>
                <a:schemeClr val="dk1"/>
              </a:buClr>
              <a:buSzPts val="2000"/>
              <a:buFont typeface="Times New Roman"/>
              <a:buChar char="–"/>
              <a:defRPr sz="2000"/>
            </a:lvl2pPr>
            <a:lvl3pPr indent="-342900" lvl="2" marL="1371600" algn="l">
              <a:spcBef>
                <a:spcPts val="360"/>
              </a:spcBef>
              <a:spcAft>
                <a:spcPts val="0"/>
              </a:spcAft>
              <a:buClr>
                <a:schemeClr val="dk1"/>
              </a:buClr>
              <a:buSzPts val="1800"/>
              <a:buFont typeface="Times New Roman"/>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46" name="Google Shape;46;p7"/>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514350" y="812800"/>
            <a:ext cx="5829300" cy="1524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8"/>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342900" y="363538"/>
            <a:ext cx="2255838" cy="1549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9"/>
          <p:cNvSpPr txBox="1"/>
          <p:nvPr>
            <p:ph idx="1" type="body"/>
          </p:nvPr>
        </p:nvSpPr>
        <p:spPr>
          <a:xfrm>
            <a:off x="2681288" y="363538"/>
            <a:ext cx="3833812" cy="7804150"/>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57" name="Google Shape;57;p9"/>
          <p:cNvSpPr txBox="1"/>
          <p:nvPr>
            <p:ph idx="2" type="body"/>
          </p:nvPr>
        </p:nvSpPr>
        <p:spPr>
          <a:xfrm>
            <a:off x="342900" y="1912938"/>
            <a:ext cx="2255838" cy="625475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58" name="Google Shape;58;p9"/>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344613" y="6400800"/>
            <a:ext cx="4114800" cy="7556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10"/>
          <p:cNvSpPr/>
          <p:nvPr>
            <p:ph idx="2" type="pic"/>
          </p:nvPr>
        </p:nvSpPr>
        <p:spPr>
          <a:xfrm>
            <a:off x="1344613" y="817563"/>
            <a:ext cx="4114800" cy="5486400"/>
          </a:xfrm>
          <a:prstGeom prst="rect">
            <a:avLst/>
          </a:prstGeom>
          <a:noFill/>
          <a:ln>
            <a:noFill/>
          </a:ln>
        </p:spPr>
      </p:sp>
      <p:sp>
        <p:nvSpPr>
          <p:cNvPr id="64" name="Google Shape;64;p10"/>
          <p:cNvSpPr txBox="1"/>
          <p:nvPr>
            <p:ph idx="1" type="body"/>
          </p:nvPr>
        </p:nvSpPr>
        <p:spPr>
          <a:xfrm>
            <a:off x="1344613" y="7156450"/>
            <a:ext cx="4114800" cy="107315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Times New Roman"/>
              <a:buNone/>
              <a:defRPr sz="1400"/>
            </a:lvl1pPr>
            <a:lvl2pPr indent="-228600" lvl="1" marL="914400" algn="l">
              <a:spcBef>
                <a:spcPts val="240"/>
              </a:spcBef>
              <a:spcAft>
                <a:spcPts val="0"/>
              </a:spcAft>
              <a:buClr>
                <a:schemeClr val="dk1"/>
              </a:buClr>
              <a:buSzPts val="1200"/>
              <a:buFont typeface="Times New Roman"/>
              <a:buNone/>
              <a:defRPr sz="1200"/>
            </a:lvl2pPr>
            <a:lvl3pPr indent="-228600" lvl="2" marL="1371600" algn="l">
              <a:spcBef>
                <a:spcPts val="200"/>
              </a:spcBef>
              <a:spcAft>
                <a:spcPts val="0"/>
              </a:spcAft>
              <a:buClr>
                <a:schemeClr val="dk1"/>
              </a:buClr>
              <a:buSzPts val="1000"/>
              <a:buFont typeface="Times New Roman"/>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65" name="Google Shape;65;p10"/>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514350" y="812800"/>
            <a:ext cx="5829300" cy="1524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11"/>
          <p:cNvSpPr txBox="1"/>
          <p:nvPr>
            <p:ph idx="1" type="body"/>
          </p:nvPr>
        </p:nvSpPr>
        <p:spPr>
          <a:xfrm rot="5400000">
            <a:off x="685800" y="2470150"/>
            <a:ext cx="5486400" cy="58293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1957388" y="3741738"/>
            <a:ext cx="7315200" cy="14573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12"/>
          <p:cNvSpPr txBox="1"/>
          <p:nvPr>
            <p:ph idx="1" type="body"/>
          </p:nvPr>
        </p:nvSpPr>
        <p:spPr>
          <a:xfrm rot="5400000">
            <a:off x="-1033462" y="2360613"/>
            <a:ext cx="7315200" cy="4219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4350" y="812800"/>
            <a:ext cx="5829300" cy="1524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7" name="Google Shape;7;p1"/>
          <p:cNvSpPr txBox="1"/>
          <p:nvPr>
            <p:ph idx="1" type="body"/>
          </p:nvPr>
        </p:nvSpPr>
        <p:spPr>
          <a:xfrm>
            <a:off x="514350" y="2641600"/>
            <a:ext cx="5829300" cy="54864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8" name="Google Shape;8;p1"/>
          <p:cNvSpPr txBox="1"/>
          <p:nvPr>
            <p:ph idx="10" type="dt"/>
          </p:nvPr>
        </p:nvSpPr>
        <p:spPr>
          <a:xfrm>
            <a:off x="514350" y="8331200"/>
            <a:ext cx="1428750" cy="609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 name="Google Shape;9;p1"/>
          <p:cNvSpPr txBox="1"/>
          <p:nvPr>
            <p:ph idx="11" type="ftr"/>
          </p:nvPr>
        </p:nvSpPr>
        <p:spPr>
          <a:xfrm>
            <a:off x="2343150" y="8331200"/>
            <a:ext cx="2171700" cy="6096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 name="Google Shape;10;p1"/>
          <p:cNvSpPr txBox="1"/>
          <p:nvPr>
            <p:ph idx="12" type="sldNum"/>
          </p:nvPr>
        </p:nvSpPr>
        <p:spPr>
          <a:xfrm>
            <a:off x="4914900" y="8331200"/>
            <a:ext cx="1428750" cy="609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nvSpPr>
        <p:spPr>
          <a:xfrm>
            <a:off x="2759859" y="152400"/>
            <a:ext cx="954107"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400"/>
              <a:buFont typeface="Times New Roman"/>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CMSC204</a:t>
            </a:r>
            <a:endParaRPr/>
          </a:p>
        </p:txBody>
      </p:sp>
      <p:sp>
        <p:nvSpPr>
          <p:cNvPr id="85" name="Google Shape;85;p13"/>
          <p:cNvSpPr/>
          <p:nvPr/>
        </p:nvSpPr>
        <p:spPr>
          <a:xfrm>
            <a:off x="283363" y="675619"/>
            <a:ext cx="6291300" cy="101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Figure 1 – StateGraph</a:t>
            </a:r>
            <a:endParaRPr b="0" i="0" sz="12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t/>
            </a:r>
            <a:endParaRPr b="0" i="0" sz="12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V(StateGraph) = {Oregon, Alaska, Texas, Hawaii, Vermont, NewYork, California}</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E(StateGraph) = {(Alaska, Oregon), (Hawaii, Alaska), (Hawaii, Texas), (Texas, Hawaii), (Hawaii, 	California), (Hawaii, New York), (Texas, Vermont), (Vermont, California), 	(Vermont, Alaska)}</a:t>
            </a:r>
            <a:endParaRPr/>
          </a:p>
        </p:txBody>
      </p:sp>
      <p:sp>
        <p:nvSpPr>
          <p:cNvPr id="86" name="Google Shape;86;p13"/>
          <p:cNvSpPr txBox="1"/>
          <p:nvPr/>
        </p:nvSpPr>
        <p:spPr>
          <a:xfrm>
            <a:off x="394950" y="1771462"/>
            <a:ext cx="2364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1A.  Draw the directed StateGraph.</a:t>
            </a:r>
            <a:endParaRPr/>
          </a:p>
        </p:txBody>
      </p:sp>
      <p:sp>
        <p:nvSpPr>
          <p:cNvPr id="87" name="Google Shape;87;p13"/>
          <p:cNvSpPr/>
          <p:nvPr/>
        </p:nvSpPr>
        <p:spPr>
          <a:xfrm>
            <a:off x="394950" y="2310675"/>
            <a:ext cx="1090500" cy="5232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Alaska</a:t>
            </a:r>
            <a:endParaRPr b="1">
              <a:latin typeface="Times New Roman"/>
              <a:ea typeface="Times New Roman"/>
              <a:cs typeface="Times New Roman"/>
              <a:sym typeface="Times New Roman"/>
            </a:endParaRPr>
          </a:p>
        </p:txBody>
      </p:sp>
      <p:sp>
        <p:nvSpPr>
          <p:cNvPr id="88" name="Google Shape;88;p13"/>
          <p:cNvSpPr/>
          <p:nvPr/>
        </p:nvSpPr>
        <p:spPr>
          <a:xfrm>
            <a:off x="746675" y="3949375"/>
            <a:ext cx="1090500" cy="5232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Texas</a:t>
            </a:r>
            <a:endParaRPr b="1">
              <a:latin typeface="Times New Roman"/>
              <a:ea typeface="Times New Roman"/>
              <a:cs typeface="Times New Roman"/>
              <a:sym typeface="Times New Roman"/>
            </a:endParaRPr>
          </a:p>
        </p:txBody>
      </p:sp>
      <p:sp>
        <p:nvSpPr>
          <p:cNvPr id="89" name="Google Shape;89;p13"/>
          <p:cNvSpPr/>
          <p:nvPr/>
        </p:nvSpPr>
        <p:spPr>
          <a:xfrm>
            <a:off x="2581125" y="3708025"/>
            <a:ext cx="1421100" cy="5232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California</a:t>
            </a:r>
            <a:endParaRPr b="1">
              <a:latin typeface="Times New Roman"/>
              <a:ea typeface="Times New Roman"/>
              <a:cs typeface="Times New Roman"/>
              <a:sym typeface="Times New Roman"/>
            </a:endParaRPr>
          </a:p>
        </p:txBody>
      </p:sp>
      <p:sp>
        <p:nvSpPr>
          <p:cNvPr id="90" name="Google Shape;90;p13"/>
          <p:cNvSpPr/>
          <p:nvPr/>
        </p:nvSpPr>
        <p:spPr>
          <a:xfrm>
            <a:off x="1826425" y="4406700"/>
            <a:ext cx="1505700" cy="523200"/>
          </a:xfrm>
          <a:prstGeom prst="ellipse">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New York</a:t>
            </a:r>
            <a:endParaRPr b="1">
              <a:latin typeface="Times New Roman"/>
              <a:ea typeface="Times New Roman"/>
              <a:cs typeface="Times New Roman"/>
              <a:sym typeface="Times New Roman"/>
            </a:endParaRPr>
          </a:p>
        </p:txBody>
      </p:sp>
      <p:sp>
        <p:nvSpPr>
          <p:cNvPr id="91" name="Google Shape;91;p13"/>
          <p:cNvSpPr/>
          <p:nvPr/>
        </p:nvSpPr>
        <p:spPr>
          <a:xfrm>
            <a:off x="1343850" y="3096200"/>
            <a:ext cx="1090500" cy="5232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New Roman"/>
                <a:ea typeface="Times New Roman"/>
                <a:cs typeface="Times New Roman"/>
                <a:sym typeface="Times New Roman"/>
              </a:rPr>
              <a:t>Hawaii</a:t>
            </a:r>
            <a:endParaRPr b="1">
              <a:solidFill>
                <a:srgbClr val="FFFFFF"/>
              </a:solidFill>
              <a:latin typeface="Times New Roman"/>
              <a:ea typeface="Times New Roman"/>
              <a:cs typeface="Times New Roman"/>
              <a:sym typeface="Times New Roman"/>
            </a:endParaRPr>
          </a:p>
        </p:txBody>
      </p:sp>
      <p:sp>
        <p:nvSpPr>
          <p:cNvPr id="92" name="Google Shape;92;p13"/>
          <p:cNvSpPr/>
          <p:nvPr/>
        </p:nvSpPr>
        <p:spPr>
          <a:xfrm>
            <a:off x="3667125" y="2728089"/>
            <a:ext cx="1242000" cy="605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Vermont</a:t>
            </a:r>
            <a:endParaRPr b="1">
              <a:latin typeface="Times New Roman"/>
              <a:ea typeface="Times New Roman"/>
              <a:cs typeface="Times New Roman"/>
              <a:sym typeface="Times New Roman"/>
            </a:endParaRPr>
          </a:p>
        </p:txBody>
      </p:sp>
      <p:sp>
        <p:nvSpPr>
          <p:cNvPr id="93" name="Google Shape;93;p13"/>
          <p:cNvSpPr/>
          <p:nvPr/>
        </p:nvSpPr>
        <p:spPr>
          <a:xfrm>
            <a:off x="2047825" y="2310638"/>
            <a:ext cx="1090500" cy="5232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FFFFF"/>
                </a:solidFill>
                <a:latin typeface="Times New Roman"/>
                <a:ea typeface="Times New Roman"/>
                <a:cs typeface="Times New Roman"/>
                <a:sym typeface="Times New Roman"/>
              </a:rPr>
              <a:t>Oregon</a:t>
            </a:r>
            <a:endParaRPr b="1">
              <a:solidFill>
                <a:srgbClr val="FFFFFF"/>
              </a:solidFill>
              <a:latin typeface="Times New Roman"/>
              <a:ea typeface="Times New Roman"/>
              <a:cs typeface="Times New Roman"/>
              <a:sym typeface="Times New Roman"/>
            </a:endParaRPr>
          </a:p>
        </p:txBody>
      </p:sp>
      <p:sp>
        <p:nvSpPr>
          <p:cNvPr id="94" name="Google Shape;94;p13"/>
          <p:cNvSpPr/>
          <p:nvPr/>
        </p:nvSpPr>
        <p:spPr>
          <a:xfrm>
            <a:off x="1485450" y="2510547"/>
            <a:ext cx="562500" cy="180300"/>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95" name="Google Shape;95;p13"/>
          <p:cNvSpPr/>
          <p:nvPr/>
        </p:nvSpPr>
        <p:spPr>
          <a:xfrm rot="-7348693">
            <a:off x="1010626" y="2940855"/>
            <a:ext cx="562592" cy="180183"/>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96" name="Google Shape;96;p13"/>
          <p:cNvSpPr/>
          <p:nvPr/>
        </p:nvSpPr>
        <p:spPr>
          <a:xfrm rot="-3746266">
            <a:off x="1107774" y="3648569"/>
            <a:ext cx="562769" cy="180077"/>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97" name="Google Shape;97;p13"/>
          <p:cNvSpPr/>
          <p:nvPr/>
        </p:nvSpPr>
        <p:spPr>
          <a:xfrm rot="6852077">
            <a:off x="1296022" y="3713552"/>
            <a:ext cx="562760" cy="179931"/>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98" name="Google Shape;98;p13"/>
          <p:cNvSpPr/>
          <p:nvPr/>
        </p:nvSpPr>
        <p:spPr>
          <a:xfrm rot="2697407">
            <a:off x="2297977" y="3570190"/>
            <a:ext cx="562574" cy="180312"/>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99" name="Google Shape;99;p13"/>
          <p:cNvSpPr/>
          <p:nvPr/>
        </p:nvSpPr>
        <p:spPr>
          <a:xfrm rot="4677412">
            <a:off x="1797292" y="3930801"/>
            <a:ext cx="813811" cy="180342"/>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00" name="Google Shape;100;p13"/>
          <p:cNvSpPr/>
          <p:nvPr/>
        </p:nvSpPr>
        <p:spPr>
          <a:xfrm rot="-1699270">
            <a:off x="1707132" y="3496903"/>
            <a:ext cx="2110185" cy="237849"/>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01" name="Google Shape;101;p13"/>
          <p:cNvSpPr/>
          <p:nvPr/>
        </p:nvSpPr>
        <p:spPr>
          <a:xfrm rot="6654341">
            <a:off x="3549731" y="3437066"/>
            <a:ext cx="627188" cy="180517"/>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02" name="Google Shape;102;p13"/>
          <p:cNvSpPr/>
          <p:nvPr/>
        </p:nvSpPr>
        <p:spPr>
          <a:xfrm rot="-10159452">
            <a:off x="1377555" y="2815920"/>
            <a:ext cx="2238038" cy="180512"/>
          </a:xfrm>
          <a:prstGeom prst="right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03" name="Google Shape;103;p13"/>
          <p:cNvSpPr txBox="1"/>
          <p:nvPr/>
        </p:nvSpPr>
        <p:spPr>
          <a:xfrm>
            <a:off x="0" y="5024175"/>
            <a:ext cx="6943500" cy="1150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a. Is there a path from Oregon to any other state in the StateGraph?</a:t>
            </a:r>
            <a:endParaRPr sz="17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b="1" lang="en-US" sz="1700">
                <a:solidFill>
                  <a:schemeClr val="dk1"/>
                </a:solidFill>
                <a:latin typeface="Times New Roman"/>
                <a:ea typeface="Times New Roman"/>
                <a:cs typeface="Times New Roman"/>
                <a:sym typeface="Times New Roman"/>
              </a:rPr>
              <a:t>No, because Oregon is not directed to any other state.</a:t>
            </a:r>
            <a:endParaRPr b="1" sz="17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b="1" sz="17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US" sz="1700">
                <a:solidFill>
                  <a:schemeClr val="dk1"/>
                </a:solidFill>
                <a:latin typeface="Times New Roman"/>
                <a:ea typeface="Times New Roman"/>
                <a:cs typeface="Times New Roman"/>
                <a:sym typeface="Times New Roman"/>
              </a:rPr>
              <a:t>b. Is there a path from Hawaii to every other </a:t>
            </a:r>
            <a:r>
              <a:rPr lang="en-US" sz="1700">
                <a:solidFill>
                  <a:schemeClr val="dk1"/>
                </a:solidFill>
                <a:latin typeface="Times New Roman"/>
                <a:ea typeface="Times New Roman"/>
                <a:cs typeface="Times New Roman"/>
                <a:sym typeface="Times New Roman"/>
              </a:rPr>
              <a:t>state in the graph?</a:t>
            </a:r>
            <a:endParaRPr sz="1700">
              <a:solidFill>
                <a:schemeClr val="dk1"/>
              </a:solidFill>
              <a:latin typeface="Times New Roman"/>
              <a:ea typeface="Times New Roman"/>
              <a:cs typeface="Times New Roman"/>
              <a:sym typeface="Times New Roman"/>
            </a:endParaRPr>
          </a:p>
          <a:p>
            <a:pPr indent="457200" lvl="0" marL="0" rtl="0" algn="l">
              <a:spcBef>
                <a:spcPts val="0"/>
              </a:spcBef>
              <a:spcAft>
                <a:spcPts val="0"/>
              </a:spcAft>
              <a:buNone/>
            </a:pPr>
            <a:r>
              <a:rPr b="1" lang="en-US" sz="1700">
                <a:solidFill>
                  <a:schemeClr val="dk1"/>
                </a:solidFill>
                <a:latin typeface="Times New Roman"/>
                <a:ea typeface="Times New Roman"/>
                <a:cs typeface="Times New Roman"/>
                <a:sym typeface="Times New Roman"/>
              </a:rPr>
              <a:t>Yes, in addition to the states that are accessible from Hawaii directly Oregon is accessible through Alaska and Vermont is accessible through Texas.</a:t>
            </a:r>
            <a:endParaRPr b="1" sz="17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US" sz="1700">
                <a:solidFill>
                  <a:schemeClr val="dk1"/>
                </a:solidFill>
                <a:latin typeface="Times New Roman"/>
                <a:ea typeface="Times New Roman"/>
                <a:cs typeface="Times New Roman"/>
                <a:sym typeface="Times New Roman"/>
              </a:rPr>
              <a:t>c. From which state(s) in the graph is there a path to Hawaii?</a:t>
            </a:r>
            <a:endParaRPr sz="17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b="1" lang="en-US" sz="1700">
                <a:solidFill>
                  <a:schemeClr val="dk1"/>
                </a:solidFill>
                <a:latin typeface="Times New Roman"/>
                <a:ea typeface="Times New Roman"/>
                <a:cs typeface="Times New Roman"/>
                <a:sym typeface="Times New Roman"/>
              </a:rPr>
              <a:t>Texas, Hawaii (path to self) </a:t>
            </a:r>
            <a:endParaRPr b="1" sz="17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4"/>
          <p:cNvSpPr txBox="1"/>
          <p:nvPr/>
        </p:nvSpPr>
        <p:spPr>
          <a:xfrm>
            <a:off x="288925" y="5446713"/>
            <a:ext cx="366799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3.   b.   Show the adjacency lists</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that would describe the edges in the StateGraph</a:t>
            </a:r>
            <a:endParaRPr b="0" i="0" sz="1200" u="none" cap="none" strike="noStrike">
              <a:solidFill>
                <a:schemeClr val="dk1"/>
              </a:solidFill>
              <a:latin typeface="Times New Roman"/>
              <a:ea typeface="Times New Roman"/>
              <a:cs typeface="Times New Roman"/>
              <a:sym typeface="Times New Roman"/>
            </a:endParaRPr>
          </a:p>
        </p:txBody>
      </p:sp>
      <p:sp>
        <p:nvSpPr>
          <p:cNvPr id="109" name="Google Shape;109;p14"/>
          <p:cNvSpPr/>
          <p:nvPr/>
        </p:nvSpPr>
        <p:spPr>
          <a:xfrm>
            <a:off x="0" y="5938300"/>
            <a:ext cx="6543900" cy="22305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rPr lang="en-US" sz="2000">
                <a:solidFill>
                  <a:srgbClr val="0000FF"/>
                </a:solidFill>
                <a:latin typeface="Times New Roman"/>
                <a:ea typeface="Times New Roman"/>
                <a:cs typeface="Times New Roman"/>
                <a:sym typeface="Times New Roman"/>
              </a:rPr>
              <a:t>Alaska: Adjacent to Oregon</a:t>
            </a:r>
            <a:endParaRPr sz="20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2000">
                <a:solidFill>
                  <a:srgbClr val="0000FF"/>
                </a:solidFill>
                <a:latin typeface="Times New Roman"/>
                <a:ea typeface="Times New Roman"/>
                <a:cs typeface="Times New Roman"/>
                <a:sym typeface="Times New Roman"/>
              </a:rPr>
              <a:t>California: None</a:t>
            </a:r>
            <a:endParaRPr sz="20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2000">
                <a:solidFill>
                  <a:srgbClr val="0000FF"/>
                </a:solidFill>
                <a:latin typeface="Times New Roman"/>
                <a:ea typeface="Times New Roman"/>
                <a:cs typeface="Times New Roman"/>
                <a:sym typeface="Times New Roman"/>
              </a:rPr>
              <a:t>Hawaii: Adjacent to Alaska, California, New York, and Texas</a:t>
            </a:r>
            <a:endParaRPr sz="20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2000">
                <a:solidFill>
                  <a:srgbClr val="0000FF"/>
                </a:solidFill>
                <a:latin typeface="Times New Roman"/>
                <a:ea typeface="Times New Roman"/>
                <a:cs typeface="Times New Roman"/>
                <a:sym typeface="Times New Roman"/>
              </a:rPr>
              <a:t>New York: None</a:t>
            </a:r>
            <a:endParaRPr sz="20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2000">
                <a:solidFill>
                  <a:srgbClr val="0000FF"/>
                </a:solidFill>
                <a:latin typeface="Times New Roman"/>
                <a:ea typeface="Times New Roman"/>
                <a:cs typeface="Times New Roman"/>
                <a:sym typeface="Times New Roman"/>
              </a:rPr>
              <a:t>Oregon: None</a:t>
            </a:r>
            <a:endParaRPr sz="20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2000">
                <a:solidFill>
                  <a:srgbClr val="0000FF"/>
                </a:solidFill>
                <a:latin typeface="Times New Roman"/>
                <a:ea typeface="Times New Roman"/>
                <a:cs typeface="Times New Roman"/>
                <a:sym typeface="Times New Roman"/>
              </a:rPr>
              <a:t>Texas: Hawaii, Vermont</a:t>
            </a:r>
            <a:endParaRPr sz="20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2000">
                <a:solidFill>
                  <a:srgbClr val="0000FF"/>
                </a:solidFill>
                <a:latin typeface="Times New Roman"/>
                <a:ea typeface="Times New Roman"/>
                <a:cs typeface="Times New Roman"/>
                <a:sym typeface="Times New Roman"/>
              </a:rPr>
              <a:t>Vermont: Alaska, California</a:t>
            </a:r>
            <a:endParaRPr sz="2400">
              <a:solidFill>
                <a:srgbClr val="0000FF"/>
              </a:solidFill>
              <a:latin typeface="Times New Roman"/>
              <a:ea typeface="Times New Roman"/>
              <a:cs typeface="Times New Roman"/>
              <a:sym typeface="Times New Roman"/>
            </a:endParaRPr>
          </a:p>
        </p:txBody>
      </p:sp>
      <p:grpSp>
        <p:nvGrpSpPr>
          <p:cNvPr id="110" name="Google Shape;110;p14"/>
          <p:cNvGrpSpPr/>
          <p:nvPr/>
        </p:nvGrpSpPr>
        <p:grpSpPr>
          <a:xfrm>
            <a:off x="100800" y="1467650"/>
            <a:ext cx="1143000" cy="2590800"/>
            <a:chOff x="381000" y="6248400"/>
            <a:chExt cx="1143000" cy="2590800"/>
          </a:xfrm>
        </p:grpSpPr>
        <p:sp>
          <p:nvSpPr>
            <p:cNvPr id="111" name="Google Shape;111;p14"/>
            <p:cNvSpPr/>
            <p:nvPr/>
          </p:nvSpPr>
          <p:spPr>
            <a:xfrm>
              <a:off x="381000" y="6553200"/>
              <a:ext cx="1143000" cy="2286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Times New Roman"/>
                <a:buNone/>
              </a:pPr>
              <a:r>
                <a:rPr lang="en-US" sz="1800">
                  <a:solidFill>
                    <a:srgbClr val="0000FF"/>
                  </a:solidFill>
                  <a:latin typeface="Times New Roman"/>
                  <a:ea typeface="Times New Roman"/>
                  <a:cs typeface="Times New Roman"/>
                  <a:sym typeface="Times New Roman"/>
                </a:rPr>
                <a:t>Alaska</a:t>
              </a:r>
              <a:endParaRPr sz="18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1800">
                  <a:solidFill>
                    <a:srgbClr val="0000FF"/>
                  </a:solidFill>
                  <a:latin typeface="Times New Roman"/>
                  <a:ea typeface="Times New Roman"/>
                  <a:cs typeface="Times New Roman"/>
                  <a:sym typeface="Times New Roman"/>
                </a:rPr>
                <a:t>California</a:t>
              </a:r>
              <a:endParaRPr sz="18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1800">
                  <a:solidFill>
                    <a:srgbClr val="0000FF"/>
                  </a:solidFill>
                  <a:latin typeface="Times New Roman"/>
                  <a:ea typeface="Times New Roman"/>
                  <a:cs typeface="Times New Roman"/>
                  <a:sym typeface="Times New Roman"/>
                </a:rPr>
                <a:t>Hawaii</a:t>
              </a:r>
              <a:endParaRPr sz="18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1800">
                  <a:solidFill>
                    <a:srgbClr val="0000FF"/>
                  </a:solidFill>
                  <a:latin typeface="Times New Roman"/>
                  <a:ea typeface="Times New Roman"/>
                  <a:cs typeface="Times New Roman"/>
                  <a:sym typeface="Times New Roman"/>
                </a:rPr>
                <a:t>New York</a:t>
              </a:r>
              <a:endParaRPr sz="18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1800">
                  <a:solidFill>
                    <a:srgbClr val="0000FF"/>
                  </a:solidFill>
                  <a:latin typeface="Times New Roman"/>
                  <a:ea typeface="Times New Roman"/>
                  <a:cs typeface="Times New Roman"/>
                  <a:sym typeface="Times New Roman"/>
                </a:rPr>
                <a:t>Oregon</a:t>
              </a:r>
              <a:endParaRPr sz="18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1800">
                  <a:solidFill>
                    <a:srgbClr val="0000FF"/>
                  </a:solidFill>
                  <a:latin typeface="Times New Roman"/>
                  <a:ea typeface="Times New Roman"/>
                  <a:cs typeface="Times New Roman"/>
                  <a:sym typeface="Times New Roman"/>
                </a:rPr>
                <a:t>Texas</a:t>
              </a:r>
              <a:endParaRPr sz="18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400"/>
                <a:buFont typeface="Times New Roman"/>
                <a:buNone/>
              </a:pPr>
              <a:r>
                <a:rPr lang="en-US" sz="1800">
                  <a:solidFill>
                    <a:srgbClr val="0000FF"/>
                  </a:solidFill>
                  <a:latin typeface="Times New Roman"/>
                  <a:ea typeface="Times New Roman"/>
                  <a:cs typeface="Times New Roman"/>
                  <a:sym typeface="Times New Roman"/>
                </a:rPr>
                <a:t>Vermont</a:t>
              </a:r>
              <a:endParaRPr sz="1800">
                <a:solidFill>
                  <a:srgbClr val="0000FF"/>
                </a:solidFill>
                <a:latin typeface="Times New Roman"/>
                <a:ea typeface="Times New Roman"/>
                <a:cs typeface="Times New Roman"/>
                <a:sym typeface="Times New Roman"/>
              </a:endParaRPr>
            </a:p>
          </p:txBody>
        </p:sp>
        <p:sp>
          <p:nvSpPr>
            <p:cNvPr id="112" name="Google Shape;112;p14"/>
            <p:cNvSpPr txBox="1"/>
            <p:nvPr/>
          </p:nvSpPr>
          <p:spPr>
            <a:xfrm>
              <a:off x="609600" y="6248400"/>
              <a:ext cx="549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States</a:t>
              </a:r>
              <a:endParaRPr/>
            </a:p>
          </p:txBody>
        </p:sp>
      </p:grpSp>
      <p:sp>
        <p:nvSpPr>
          <p:cNvPr id="113" name="Google Shape;113;p14"/>
          <p:cNvSpPr/>
          <p:nvPr/>
        </p:nvSpPr>
        <p:spPr>
          <a:xfrm>
            <a:off x="457200" y="304800"/>
            <a:ext cx="5334000" cy="46166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V(StateGraph) = {Oregon, Alaska, Texas, Hawaii, Vermont, NewYork, California}</a:t>
            </a:r>
            <a:endParaRPr>
              <a:solidFill>
                <a:schemeClr val="dk1"/>
              </a:solidFill>
            </a:endParaRPr>
          </a:p>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E(StateGraph) = {(Alaska, Oregon), (Hawaii, Alaska), (Hawaii, Texas), (Texas, Hawaii), (Hawaii, 	California), (Hawaii, New York), (Texas, Vermont), (Vermont, California), 	(Vermont, Alaska)}</a:t>
            </a:r>
            <a:endParaRPr sz="12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200"/>
              <a:buFont typeface="Times New Roman"/>
              <a:buAutoNum type="arabicPeriod" startAt="3"/>
            </a:pPr>
            <a:r>
              <a:rPr b="0" i="0" lang="en-US" sz="1200" u="none" cap="none" strike="noStrike">
                <a:solidFill>
                  <a:schemeClr val="dk1"/>
                </a:solidFill>
                <a:latin typeface="Times New Roman"/>
                <a:ea typeface="Times New Roman"/>
                <a:cs typeface="Times New Roman"/>
                <a:sym typeface="Times New Roman"/>
              </a:rPr>
              <a:t>a.  Show the adjacency matrix that would describe the edges in the StateGraph. Store the vertices in alphabetical order</a:t>
            </a:r>
            <a:endParaRPr b="0" i="0" sz="1000" u="none" cap="none" strike="noStrike">
              <a:solidFill>
                <a:schemeClr val="dk1"/>
              </a:solidFill>
              <a:latin typeface="Times New Roman"/>
              <a:ea typeface="Times New Roman"/>
              <a:cs typeface="Times New Roman"/>
              <a:sym typeface="Times New Roman"/>
            </a:endParaRPr>
          </a:p>
        </p:txBody>
      </p:sp>
      <p:graphicFrame>
        <p:nvGraphicFramePr>
          <p:cNvPr id="114" name="Google Shape;114;p14"/>
          <p:cNvGraphicFramePr/>
          <p:nvPr/>
        </p:nvGraphicFramePr>
        <p:xfrm>
          <a:off x="1333896" y="2033854"/>
          <a:ext cx="3000000" cy="3000000"/>
        </p:xfrm>
        <a:graphic>
          <a:graphicData uri="http://schemas.openxmlformats.org/drawingml/2006/table">
            <a:tbl>
              <a:tblPr>
                <a:noFill/>
                <a:tableStyleId>{328CDD49-3B25-4E60-87F1-38D98718681B}</a:tableStyleId>
              </a:tblPr>
              <a:tblGrid>
                <a:gridCol w="994975"/>
                <a:gridCol w="1146925"/>
                <a:gridCol w="933450"/>
                <a:gridCol w="737375"/>
                <a:gridCol w="877550"/>
                <a:gridCol w="822850"/>
                <a:gridCol w="1022350"/>
                <a:gridCol w="1493300"/>
              </a:tblGrid>
              <a:tr h="27715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MATRIX</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Alaska</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California</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Hawaii</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New York</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Oregon</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Texas</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Vermont</a:t>
                      </a:r>
                      <a:endParaRPr>
                        <a:solidFill>
                          <a:srgbClr val="0000FF"/>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Alaska</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California</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Hawaii</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New York</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Oregon</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Texas</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rPr>
                        <a:t>1</a:t>
                      </a:r>
                      <a:endParaRPr>
                        <a:solidFill>
                          <a:srgbClr val="0000FF"/>
                        </a:solidFill>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Vermont</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1</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0</a:t>
                      </a:r>
                      <a:endParaRPr>
                        <a:solidFill>
                          <a:srgbClr val="0000FF"/>
                        </a:solidFill>
                        <a:latin typeface="Times New Roman"/>
                        <a:ea typeface="Times New Roman"/>
                        <a:cs typeface="Times New Roman"/>
                        <a:sym typeface="Times New Roman"/>
                      </a:endParaRPr>
                    </a:p>
                  </a:txBody>
                  <a:tcPr marT="91425" marB="91425" marR="91425" marL="91425"/>
                </a:tc>
              </a:tr>
            </a:tbl>
          </a:graphicData>
        </a:graphic>
      </p:graphicFrame>
      <p:sp>
        <p:nvSpPr>
          <p:cNvPr id="115" name="Google Shape;115;p14"/>
          <p:cNvSpPr/>
          <p:nvPr/>
        </p:nvSpPr>
        <p:spPr>
          <a:xfrm>
            <a:off x="4201275" y="1245025"/>
            <a:ext cx="4162800" cy="791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00FF"/>
                </a:solidFill>
                <a:latin typeface="Times New Roman"/>
                <a:ea typeface="Times New Roman"/>
                <a:cs typeface="Times New Roman"/>
                <a:sym typeface="Times New Roman"/>
              </a:rPr>
              <a:t>1 - edge from row to column</a:t>
            </a:r>
            <a:endParaRPr sz="24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rgbClr val="0000FF"/>
                </a:solidFill>
                <a:latin typeface="Times New Roman"/>
                <a:ea typeface="Times New Roman"/>
                <a:cs typeface="Times New Roman"/>
                <a:sym typeface="Times New Roman"/>
              </a:rPr>
              <a:t>0 - no edge</a:t>
            </a:r>
            <a:endParaRPr sz="2400">
              <a:solidFill>
                <a:srgbClr val="0000FF"/>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5"/>
          <p:cNvPicPr preferRelativeResize="0"/>
          <p:nvPr/>
        </p:nvPicPr>
        <p:blipFill rotWithShape="1">
          <a:blip r:embed="rId3">
            <a:alphaModFix/>
          </a:blip>
          <a:srcRect b="0" l="0" r="0" t="0"/>
          <a:stretch/>
        </p:blipFill>
        <p:spPr>
          <a:xfrm>
            <a:off x="538779" y="914772"/>
            <a:ext cx="4391025" cy="2647950"/>
          </a:xfrm>
          <a:prstGeom prst="rect">
            <a:avLst/>
          </a:prstGeom>
          <a:noFill/>
          <a:ln>
            <a:noFill/>
          </a:ln>
        </p:spPr>
      </p:pic>
      <p:sp>
        <p:nvSpPr>
          <p:cNvPr id="121" name="Google Shape;121;p15"/>
          <p:cNvSpPr/>
          <p:nvPr/>
        </p:nvSpPr>
        <p:spPr>
          <a:xfrm>
            <a:off x="259556" y="3633043"/>
            <a:ext cx="6311792" cy="138499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4 a.    Which of the following lists the graph nodes (Figure 4) in depth first order beginning with E? </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A)	E, G, F, C, D, B, A </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B)	G, A, E, C, B, F, D </a:t>
            </a:r>
            <a:endParaRPr/>
          </a:p>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highlight>
                  <a:srgbClr val="00FF00"/>
                </a:highlight>
                <a:latin typeface="Times New Roman"/>
                <a:ea typeface="Times New Roman"/>
                <a:cs typeface="Times New Roman"/>
                <a:sym typeface="Times New Roman"/>
              </a:rPr>
              <a:t>	C)	E, G, A, D, F, C, B (explore as far as possible be</a:t>
            </a:r>
            <a:r>
              <a:rPr b="1" lang="en-US" sz="1200">
                <a:solidFill>
                  <a:schemeClr val="dk1"/>
                </a:solidFill>
                <a:highlight>
                  <a:srgbClr val="00FF00"/>
                </a:highlight>
                <a:latin typeface="Times New Roman"/>
                <a:ea typeface="Times New Roman"/>
                <a:cs typeface="Times New Roman"/>
                <a:sym typeface="Times New Roman"/>
              </a:rPr>
              <a:t>fore backtracking)</a:t>
            </a:r>
            <a:r>
              <a:rPr b="1" i="0" lang="en-US" sz="1200" u="none" cap="none" strike="noStrike">
                <a:solidFill>
                  <a:schemeClr val="dk1"/>
                </a:solidFill>
                <a:highlight>
                  <a:srgbClr val="00FF00"/>
                </a:highlight>
                <a:latin typeface="Times New Roman"/>
                <a:ea typeface="Times New Roman"/>
                <a:cs typeface="Times New Roman"/>
                <a:sym typeface="Times New Roman"/>
              </a:rPr>
              <a:t> </a:t>
            </a:r>
            <a:endParaRPr b="1">
              <a:highlight>
                <a:srgbClr val="00FF00"/>
              </a:highlight>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D)	E, C, F, B, A, D, G </a:t>
            </a:r>
            <a:endParaRPr/>
          </a:p>
        </p:txBody>
      </p:sp>
      <p:sp>
        <p:nvSpPr>
          <p:cNvPr id="122" name="Google Shape;122;p15"/>
          <p:cNvSpPr txBox="1"/>
          <p:nvPr/>
        </p:nvSpPr>
        <p:spPr>
          <a:xfrm>
            <a:off x="228600" y="5393531"/>
            <a:ext cx="5715000" cy="138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4 b.    Which of the following lists the graph nodes (Figure 4) in breadth first order beginning at F? </a:t>
            </a:r>
            <a:endParaRPr/>
          </a:p>
          <a:p>
            <a:pPr indent="0" lvl="0" marL="0" marR="0" rtl="0" algn="l">
              <a:spcBef>
                <a:spcPts val="0"/>
              </a:spcBef>
              <a:spcAft>
                <a:spcPts val="0"/>
              </a:spcAft>
              <a:buClr>
                <a:schemeClr val="dk1"/>
              </a:buClr>
              <a:buSzPts val="1200"/>
              <a:buFont typeface="Times New Roman"/>
              <a:buNone/>
            </a:pPr>
            <a:r>
              <a:rPr b="1" i="0" lang="en-US" sz="1200" u="none" cap="none" strike="noStrike">
                <a:solidFill>
                  <a:schemeClr val="dk1"/>
                </a:solidFill>
                <a:highlight>
                  <a:srgbClr val="00FF00"/>
                </a:highlight>
                <a:latin typeface="Times New Roman"/>
                <a:ea typeface="Times New Roman"/>
                <a:cs typeface="Times New Roman"/>
                <a:sym typeface="Times New Roman"/>
              </a:rPr>
              <a:t>	A)  F, C, D, A, B, E, G (</a:t>
            </a:r>
            <a:r>
              <a:rPr b="1" lang="en-US" sz="1200">
                <a:solidFill>
                  <a:schemeClr val="dk1"/>
                </a:solidFill>
                <a:highlight>
                  <a:srgbClr val="00FF00"/>
                </a:highlight>
                <a:latin typeface="Times New Roman"/>
                <a:ea typeface="Times New Roman"/>
                <a:cs typeface="Times New Roman"/>
                <a:sym typeface="Times New Roman"/>
              </a:rPr>
              <a:t>visit all the neighbors of the current node before moving to next level)</a:t>
            </a:r>
            <a:endParaRPr b="1">
              <a:highlight>
                <a:srgbClr val="00FF00"/>
              </a:highlight>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B)  F, D, C, A, B, C, G </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C)  F, C, D, B, G, A, E </a:t>
            </a:r>
            <a:endParaRPr/>
          </a:p>
          <a:p>
            <a:pPr indent="0" lvl="0" marL="0" marR="0" rtl="0" algn="l">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D)  a, b, and c are all breadth first traversals </a:t>
            </a:r>
            <a:endParaRPr/>
          </a:p>
        </p:txBody>
      </p:sp>
      <p:sp>
        <p:nvSpPr>
          <p:cNvPr id="123" name="Google Shape;123;p15"/>
          <p:cNvSpPr txBox="1"/>
          <p:nvPr/>
        </p:nvSpPr>
        <p:spPr>
          <a:xfrm>
            <a:off x="538779" y="529183"/>
            <a:ext cx="7873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Times New Roman"/>
                <a:ea typeface="Times New Roman"/>
                <a:cs typeface="Times New Roman"/>
                <a:sym typeface="Times New Roman"/>
              </a:rPr>
              <a:t>Figure 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9_633b" id="128" name="Google Shape;128;p16"/>
          <p:cNvPicPr preferRelativeResize="0"/>
          <p:nvPr/>
        </p:nvPicPr>
        <p:blipFill rotWithShape="1">
          <a:blip r:embed="rId3">
            <a:alphaModFix/>
          </a:blip>
          <a:srcRect b="0" l="0" r="0" t="0"/>
          <a:stretch/>
        </p:blipFill>
        <p:spPr>
          <a:xfrm>
            <a:off x="155850" y="65225"/>
            <a:ext cx="4648200" cy="2855915"/>
          </a:xfrm>
          <a:prstGeom prst="rect">
            <a:avLst/>
          </a:prstGeom>
          <a:noFill/>
          <a:ln cap="flat" cmpd="sng" w="28575">
            <a:solidFill>
              <a:schemeClr val="dk1"/>
            </a:solidFill>
            <a:prstDash val="solid"/>
            <a:miter lim="800000"/>
            <a:headEnd len="sm" w="sm" type="none"/>
            <a:tailEnd len="sm" w="sm" type="none"/>
          </a:ln>
        </p:spPr>
      </p:pic>
      <p:sp>
        <p:nvSpPr>
          <p:cNvPr id="129" name="Google Shape;129;p16"/>
          <p:cNvSpPr txBox="1"/>
          <p:nvPr/>
        </p:nvSpPr>
        <p:spPr>
          <a:xfrm>
            <a:off x="155850" y="3009875"/>
            <a:ext cx="39117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5.  Find the shortest </a:t>
            </a:r>
            <a:r>
              <a:rPr lang="en-US" sz="1200" u="sng">
                <a:solidFill>
                  <a:schemeClr val="dk1"/>
                </a:solidFill>
                <a:latin typeface="Times New Roman"/>
                <a:ea typeface="Times New Roman"/>
                <a:cs typeface="Times New Roman"/>
                <a:sym typeface="Times New Roman"/>
              </a:rPr>
              <a:t>distance</a:t>
            </a:r>
            <a:r>
              <a:rPr lang="en-US" sz="1200">
                <a:solidFill>
                  <a:schemeClr val="dk1"/>
                </a:solidFill>
                <a:latin typeface="Times New Roman"/>
                <a:ea typeface="Times New Roman"/>
                <a:cs typeface="Times New Roman"/>
                <a:sym typeface="Times New Roman"/>
              </a:rPr>
              <a:t> from Atlanta to every other city</a:t>
            </a:r>
            <a:endParaRPr/>
          </a:p>
        </p:txBody>
      </p:sp>
      <p:sp>
        <p:nvSpPr>
          <p:cNvPr id="130" name="Google Shape;130;p16"/>
          <p:cNvSpPr txBox="1"/>
          <p:nvPr/>
        </p:nvSpPr>
        <p:spPr>
          <a:xfrm>
            <a:off x="91775" y="3375500"/>
            <a:ext cx="39117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lang="en-US" sz="1200">
                <a:solidFill>
                  <a:srgbClr val="0000FF"/>
                </a:solidFill>
                <a:latin typeface="Times New Roman"/>
                <a:ea typeface="Times New Roman"/>
                <a:cs typeface="Times New Roman"/>
                <a:sym typeface="Times New Roman"/>
              </a:rPr>
              <a:t>Atlanta to Washington: </a:t>
            </a:r>
            <a:r>
              <a:rPr b="1" lang="en-US" sz="1200">
                <a:solidFill>
                  <a:srgbClr val="0000FF"/>
                </a:solidFill>
                <a:latin typeface="Times New Roman"/>
                <a:ea typeface="Times New Roman"/>
                <a:cs typeface="Times New Roman"/>
                <a:sym typeface="Times New Roman"/>
              </a:rPr>
              <a:t>600 units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lang="en-US" sz="1200">
                <a:solidFill>
                  <a:srgbClr val="0000FF"/>
                </a:solidFill>
                <a:latin typeface="Times New Roman"/>
                <a:ea typeface="Times New Roman"/>
                <a:cs typeface="Times New Roman"/>
                <a:sym typeface="Times New Roman"/>
              </a:rPr>
              <a:t>Atlanta to Houston: </a:t>
            </a:r>
            <a:r>
              <a:rPr b="1" lang="en-US" sz="1200">
                <a:solidFill>
                  <a:srgbClr val="0000FF"/>
                </a:solidFill>
                <a:latin typeface="Times New Roman"/>
                <a:ea typeface="Times New Roman"/>
                <a:cs typeface="Times New Roman"/>
                <a:sym typeface="Times New Roman"/>
              </a:rPr>
              <a:t>800 units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lang="en-US" sz="1200">
                <a:solidFill>
                  <a:srgbClr val="0000FF"/>
                </a:solidFill>
                <a:latin typeface="Times New Roman"/>
                <a:ea typeface="Times New Roman"/>
                <a:cs typeface="Times New Roman"/>
                <a:sym typeface="Times New Roman"/>
              </a:rPr>
              <a:t>Atlanta to Denver: </a:t>
            </a:r>
            <a:r>
              <a:rPr b="1" lang="en-US" sz="1200">
                <a:solidFill>
                  <a:srgbClr val="0000FF"/>
                </a:solidFill>
                <a:latin typeface="Times New Roman"/>
                <a:ea typeface="Times New Roman"/>
                <a:cs typeface="Times New Roman"/>
                <a:sym typeface="Times New Roman"/>
              </a:rPr>
              <a:t>600 (Washington)  + 1300 (Dallas) + 780 = 2680 units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lang="en-US" sz="1200">
                <a:solidFill>
                  <a:srgbClr val="0000FF"/>
                </a:solidFill>
                <a:latin typeface="Times New Roman"/>
                <a:ea typeface="Times New Roman"/>
                <a:cs typeface="Times New Roman"/>
                <a:sym typeface="Times New Roman"/>
              </a:rPr>
              <a:t>Atlanta to Chicago: </a:t>
            </a:r>
            <a:r>
              <a:rPr b="1" lang="en-US" sz="1200">
                <a:solidFill>
                  <a:srgbClr val="0000FF"/>
                </a:solidFill>
                <a:latin typeface="Times New Roman"/>
                <a:ea typeface="Times New Roman"/>
                <a:cs typeface="Times New Roman"/>
                <a:sym typeface="Times New Roman"/>
              </a:rPr>
              <a:t>600 (Washington)  + 1300 (Dallas) + 900 = 2800 units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lang="en-US" sz="1200">
                <a:solidFill>
                  <a:srgbClr val="0000FF"/>
                </a:solidFill>
                <a:latin typeface="Times New Roman"/>
                <a:ea typeface="Times New Roman"/>
                <a:cs typeface="Times New Roman"/>
                <a:sym typeface="Times New Roman"/>
              </a:rPr>
              <a:t>Atlanta to Austin: </a:t>
            </a:r>
            <a:r>
              <a:rPr b="1" lang="en-US" sz="1200">
                <a:solidFill>
                  <a:srgbClr val="0000FF"/>
                </a:solidFill>
                <a:latin typeface="Times New Roman"/>
                <a:ea typeface="Times New Roman"/>
                <a:cs typeface="Times New Roman"/>
                <a:sym typeface="Times New Roman"/>
              </a:rPr>
              <a:t>600 (Washington)  + 1300 (Dallas) + 200 = 2100 units</a:t>
            </a:r>
            <a:endParaRPr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lang="en-US" sz="1200">
                <a:solidFill>
                  <a:srgbClr val="0000FF"/>
                </a:solidFill>
                <a:latin typeface="Times New Roman"/>
                <a:ea typeface="Times New Roman"/>
                <a:cs typeface="Times New Roman"/>
                <a:sym typeface="Times New Roman"/>
              </a:rPr>
              <a:t>Atlanta to Dallas: </a:t>
            </a:r>
            <a:r>
              <a:rPr b="1" lang="en-US" sz="1200">
                <a:solidFill>
                  <a:srgbClr val="0000FF"/>
                </a:solidFill>
                <a:latin typeface="Times New Roman"/>
                <a:ea typeface="Times New Roman"/>
                <a:cs typeface="Times New Roman"/>
                <a:sym typeface="Times New Roman"/>
              </a:rPr>
              <a:t>600 (Washington)  + 1300 = 1900 units</a:t>
            </a:r>
            <a:endParaRPr b="1" sz="1200">
              <a:solidFill>
                <a:srgbClr val="0000FF"/>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nvSpPr>
        <p:spPr>
          <a:xfrm>
            <a:off x="273625" y="0"/>
            <a:ext cx="49425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350"/>
              <a:buFont typeface="Arial"/>
              <a:buNone/>
            </a:pPr>
            <a:r>
              <a:rPr lang="en-US" sz="1350">
                <a:solidFill>
                  <a:schemeClr val="dk1"/>
                </a:solidFill>
                <a:latin typeface="Arial"/>
                <a:ea typeface="Arial"/>
                <a:cs typeface="Arial"/>
                <a:sym typeface="Arial"/>
              </a:rPr>
              <a:t>6.  Find the minimal spanning tree using Prim’s algorithm. Use</a:t>
            </a:r>
            <a:endParaRPr/>
          </a:p>
          <a:p>
            <a:pPr indent="0" lvl="0" marL="0" marR="0" rtl="0" algn="l">
              <a:spcBef>
                <a:spcPts val="0"/>
              </a:spcBef>
              <a:spcAft>
                <a:spcPts val="0"/>
              </a:spcAft>
              <a:buClr>
                <a:schemeClr val="dk1"/>
              </a:buClr>
              <a:buSzPts val="1350"/>
              <a:buFont typeface="Arial"/>
              <a:buNone/>
            </a:pPr>
            <a:r>
              <a:rPr lang="en-US" sz="1350">
                <a:solidFill>
                  <a:schemeClr val="dk1"/>
                </a:solidFill>
                <a:latin typeface="Arial"/>
                <a:ea typeface="Arial"/>
                <a:cs typeface="Arial"/>
                <a:sym typeface="Arial"/>
              </a:rPr>
              <a:t>	0 as the source vertex .  Show the steps.</a:t>
            </a:r>
            <a:endParaRPr/>
          </a:p>
        </p:txBody>
      </p:sp>
      <p:pic>
        <p:nvPicPr>
          <p:cNvPr id="136" name="Google Shape;136;p17"/>
          <p:cNvPicPr preferRelativeResize="0"/>
          <p:nvPr/>
        </p:nvPicPr>
        <p:blipFill rotWithShape="1">
          <a:blip r:embed="rId3">
            <a:alphaModFix/>
          </a:blip>
          <a:srcRect b="0" l="0" r="0" t="0"/>
          <a:stretch/>
        </p:blipFill>
        <p:spPr>
          <a:xfrm>
            <a:off x="0" y="507900"/>
            <a:ext cx="2686050" cy="2128838"/>
          </a:xfrm>
          <a:prstGeom prst="rect">
            <a:avLst/>
          </a:prstGeom>
          <a:noFill/>
          <a:ln>
            <a:noFill/>
          </a:ln>
        </p:spPr>
      </p:pic>
      <p:sp>
        <p:nvSpPr>
          <p:cNvPr id="137" name="Google Shape;137;p17"/>
          <p:cNvSpPr txBox="1"/>
          <p:nvPr/>
        </p:nvSpPr>
        <p:spPr>
          <a:xfrm>
            <a:off x="0" y="2938375"/>
            <a:ext cx="39117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Steps: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1) We first select (0, 2) because it has a weight of 3 which is less than 7 from (0,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2) We then select (2, 5) because it has a weight of 1 which is less than 8 from (2, 4).</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3) We select (5, 1) because it has the smallest weight of 2.</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4) We select (5, 4) because it has the smallest weight of 3.</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5) We select (1, 3) because it has the smallest weight of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All the vertices are in the tree so we stop here.</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Edges: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(0, 2), (2, 5), (5, 1), (5, 4), (1, 3)</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Total Weight: 3 + 1 + 2 + 3 + 5 = 14</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200"/>
              <a:buFont typeface="Times New Roman"/>
              <a:buNone/>
            </a:pPr>
            <a:r>
              <a:t/>
            </a:r>
            <a:endParaRPr b="1" sz="1200">
              <a:solidFill>
                <a:srgbClr val="0000FF"/>
              </a:solidFill>
              <a:latin typeface="Times New Roman"/>
              <a:ea typeface="Times New Roman"/>
              <a:cs typeface="Times New Roman"/>
              <a:sym typeface="Times New Roman"/>
            </a:endParaRPr>
          </a:p>
        </p:txBody>
      </p:sp>
      <p:pic>
        <p:nvPicPr>
          <p:cNvPr id="138" name="Google Shape;138;p17" title="Screen Shot 2026-04-18 at 2.47.02 PM.png"/>
          <p:cNvPicPr preferRelativeResize="0"/>
          <p:nvPr/>
        </p:nvPicPr>
        <p:blipFill>
          <a:blip r:embed="rId4">
            <a:alphaModFix/>
          </a:blip>
          <a:stretch>
            <a:fillRect/>
          </a:stretch>
        </p:blipFill>
        <p:spPr>
          <a:xfrm>
            <a:off x="2821525" y="624300"/>
            <a:ext cx="4036476" cy="23140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nvSpPr>
        <p:spPr>
          <a:xfrm>
            <a:off x="228600" y="0"/>
            <a:ext cx="6348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7.  Find the minimal spanning tree using Kruskal’s algorithm.</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Show the weights in order and the steps.</a:t>
            </a:r>
            <a:endParaRPr/>
          </a:p>
        </p:txBody>
      </p:sp>
      <p:sp>
        <p:nvSpPr>
          <p:cNvPr id="144" name="Google Shape;144;p18"/>
          <p:cNvSpPr/>
          <p:nvPr/>
        </p:nvSpPr>
        <p:spPr>
          <a:xfrm>
            <a:off x="171450" y="4800600"/>
            <a:ext cx="2571750" cy="2857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p:txBody>
      </p:sp>
      <p:sp>
        <p:nvSpPr>
          <p:cNvPr id="145" name="Google Shape;145;p18"/>
          <p:cNvSpPr/>
          <p:nvPr/>
        </p:nvSpPr>
        <p:spPr>
          <a:xfrm>
            <a:off x="2000250" y="4572000"/>
            <a:ext cx="2400300" cy="228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p:txBody>
      </p:sp>
      <p:sp>
        <p:nvSpPr>
          <p:cNvPr id="146" name="Google Shape;146;p18"/>
          <p:cNvSpPr/>
          <p:nvPr/>
        </p:nvSpPr>
        <p:spPr>
          <a:xfrm>
            <a:off x="2114550" y="1905000"/>
            <a:ext cx="2343300" cy="171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p:txBody>
      </p:sp>
      <p:pic>
        <p:nvPicPr>
          <p:cNvPr id="147" name="Google Shape;147;p18"/>
          <p:cNvPicPr preferRelativeResize="0"/>
          <p:nvPr/>
        </p:nvPicPr>
        <p:blipFill rotWithShape="1">
          <a:blip r:embed="rId3">
            <a:alphaModFix/>
          </a:blip>
          <a:srcRect b="0" l="0" r="0" t="0"/>
          <a:stretch/>
        </p:blipFill>
        <p:spPr>
          <a:xfrm>
            <a:off x="114300" y="646500"/>
            <a:ext cx="2686050" cy="2128838"/>
          </a:xfrm>
          <a:prstGeom prst="rect">
            <a:avLst/>
          </a:prstGeom>
          <a:noFill/>
          <a:ln>
            <a:noFill/>
          </a:ln>
        </p:spPr>
      </p:pic>
      <p:pic>
        <p:nvPicPr>
          <p:cNvPr id="148" name="Google Shape;148;p18" title="Screen Shot 2026-04-18 at 2.53.45 PM.png"/>
          <p:cNvPicPr preferRelativeResize="0"/>
          <p:nvPr/>
        </p:nvPicPr>
        <p:blipFill>
          <a:blip r:embed="rId4">
            <a:alphaModFix/>
          </a:blip>
          <a:stretch>
            <a:fillRect/>
          </a:stretch>
        </p:blipFill>
        <p:spPr>
          <a:xfrm>
            <a:off x="3576012" y="547313"/>
            <a:ext cx="3288424" cy="356438"/>
          </a:xfrm>
          <a:prstGeom prst="rect">
            <a:avLst/>
          </a:prstGeom>
          <a:noFill/>
          <a:ln>
            <a:noFill/>
          </a:ln>
        </p:spPr>
      </p:pic>
      <p:pic>
        <p:nvPicPr>
          <p:cNvPr id="149" name="Google Shape;149;p18" title="Screen Shot 2026-04-18 at 2.54.06 PM.png"/>
          <p:cNvPicPr preferRelativeResize="0"/>
          <p:nvPr/>
        </p:nvPicPr>
        <p:blipFill>
          <a:blip r:embed="rId5">
            <a:alphaModFix/>
          </a:blip>
          <a:stretch>
            <a:fillRect/>
          </a:stretch>
        </p:blipFill>
        <p:spPr>
          <a:xfrm>
            <a:off x="3647091" y="903763"/>
            <a:ext cx="3288538" cy="356450"/>
          </a:xfrm>
          <a:prstGeom prst="rect">
            <a:avLst/>
          </a:prstGeom>
          <a:noFill/>
          <a:ln>
            <a:noFill/>
          </a:ln>
        </p:spPr>
      </p:pic>
      <p:pic>
        <p:nvPicPr>
          <p:cNvPr id="150" name="Google Shape;150;p18" title="Screen Shot 2026-04-18 at 2.55.43 PM.png"/>
          <p:cNvPicPr preferRelativeResize="0"/>
          <p:nvPr/>
        </p:nvPicPr>
        <p:blipFill>
          <a:blip r:embed="rId6">
            <a:alphaModFix/>
          </a:blip>
          <a:stretch>
            <a:fillRect/>
          </a:stretch>
        </p:blipFill>
        <p:spPr>
          <a:xfrm>
            <a:off x="3647087" y="1260213"/>
            <a:ext cx="3288550" cy="1879167"/>
          </a:xfrm>
          <a:prstGeom prst="rect">
            <a:avLst/>
          </a:prstGeom>
          <a:noFill/>
          <a:ln>
            <a:noFill/>
          </a:ln>
        </p:spPr>
      </p:pic>
      <p:sp>
        <p:nvSpPr>
          <p:cNvPr id="151" name="Google Shape;151;p18"/>
          <p:cNvSpPr txBox="1"/>
          <p:nvPr/>
        </p:nvSpPr>
        <p:spPr>
          <a:xfrm>
            <a:off x="0" y="2696682"/>
            <a:ext cx="3911700" cy="397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Steps:</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Edges and Weights: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(2, 5):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5): 2</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(0, 2): 3</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(4, 5): 3</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3):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(3, 4): 6</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(0, 1): 7</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(2, 4): 8</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Ordering by weight:</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(already done)</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Adding edges to MST: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(2, 5) - we have vertices 2,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5) - we have vertices 1, 2,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(0, 2) </a:t>
            </a:r>
            <a:r>
              <a:rPr b="1" lang="en-US" sz="1200">
                <a:solidFill>
                  <a:srgbClr val="0000FF"/>
                </a:solidFill>
                <a:latin typeface="Times New Roman"/>
                <a:ea typeface="Times New Roman"/>
                <a:cs typeface="Times New Roman"/>
                <a:sym typeface="Times New Roman"/>
              </a:rPr>
              <a:t>- we have vertices 0, 1, 2,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(4, 5) - we have vertices 0, 1, 2, 4,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3) - we have vertices 0, 1, 2, 3, 4, 5 (all vertices)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08" id="156" name="Google Shape;156;p19"/>
          <p:cNvPicPr preferRelativeResize="0"/>
          <p:nvPr/>
        </p:nvPicPr>
        <p:blipFill rotWithShape="1">
          <a:blip r:embed="rId3">
            <a:alphaModFix/>
          </a:blip>
          <a:srcRect b="0" l="0" r="0" t="0"/>
          <a:stretch/>
        </p:blipFill>
        <p:spPr>
          <a:xfrm>
            <a:off x="41225" y="441625"/>
            <a:ext cx="5618850" cy="3504751"/>
          </a:xfrm>
          <a:prstGeom prst="rect">
            <a:avLst/>
          </a:prstGeom>
          <a:noFill/>
          <a:ln>
            <a:noFill/>
          </a:ln>
        </p:spPr>
      </p:pic>
      <p:sp>
        <p:nvSpPr>
          <p:cNvPr id="157" name="Google Shape;157;p19"/>
          <p:cNvSpPr/>
          <p:nvPr/>
        </p:nvSpPr>
        <p:spPr>
          <a:xfrm>
            <a:off x="137375" y="0"/>
            <a:ext cx="5522700" cy="50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350"/>
              <a:buFont typeface="Arial"/>
              <a:buNone/>
            </a:pPr>
            <a:r>
              <a:rPr lang="en-US" sz="1350">
                <a:solidFill>
                  <a:schemeClr val="dk1"/>
                </a:solidFill>
                <a:latin typeface="Arial"/>
                <a:ea typeface="Arial"/>
                <a:cs typeface="Arial"/>
                <a:sym typeface="Arial"/>
              </a:rPr>
              <a:t>8.  Find the minimal spanning tree using the algorithm you prefer. Use</a:t>
            </a:r>
            <a:endParaRPr/>
          </a:p>
          <a:p>
            <a:pPr indent="0" lvl="0" marL="0" marR="0" rtl="0" algn="l">
              <a:spcBef>
                <a:spcPts val="0"/>
              </a:spcBef>
              <a:spcAft>
                <a:spcPts val="0"/>
              </a:spcAft>
              <a:buClr>
                <a:schemeClr val="dk1"/>
              </a:buClr>
              <a:buSzPts val="1350"/>
              <a:buFont typeface="Arial"/>
              <a:buNone/>
            </a:pPr>
            <a:r>
              <a:rPr lang="en-US" sz="1350">
                <a:solidFill>
                  <a:schemeClr val="dk1"/>
                </a:solidFill>
                <a:latin typeface="Arial"/>
                <a:ea typeface="Arial"/>
                <a:cs typeface="Arial"/>
                <a:sym typeface="Arial"/>
              </a:rPr>
              <a:t>	Minneapolis/St. Paul as the source vertex</a:t>
            </a:r>
            <a:endParaRPr/>
          </a:p>
        </p:txBody>
      </p:sp>
      <p:sp>
        <p:nvSpPr>
          <p:cNvPr id="158" name="Google Shape;158;p19"/>
          <p:cNvSpPr txBox="1"/>
          <p:nvPr/>
        </p:nvSpPr>
        <p:spPr>
          <a:xfrm>
            <a:off x="0" y="4047232"/>
            <a:ext cx="3911700" cy="397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Steps:</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Edges and Weights: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(2, 5):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5): 2</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(0, 2): 3</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(4, 5): 3</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3):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(3, 4): 6</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(0, 1): 7</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(2, 4): 8</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Ordering by weight:</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(already done)</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Adding edges to MST: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(2, 5) - we have vertices 2,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5) - we have vertices 1, 2,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(0, 2) - we have vertices 0, 1, 2,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(4, 5) - we have vertices 0, 1, 2, 4,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(1, 3) - we have vertices 0, 1, 2, 3, 4, 5 (all vertices)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nvSpPr>
        <p:spPr>
          <a:xfrm>
            <a:off x="172600" y="79650"/>
            <a:ext cx="61383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350"/>
              <a:buFont typeface="Arial"/>
              <a:buNone/>
            </a:pPr>
            <a:r>
              <a:rPr lang="en-US" sz="1350">
                <a:solidFill>
                  <a:schemeClr val="dk1"/>
                </a:solidFill>
                <a:latin typeface="Arial"/>
                <a:ea typeface="Arial"/>
                <a:cs typeface="Arial"/>
                <a:sym typeface="Arial"/>
              </a:rPr>
              <a:t>9. List the nodes of the graph in a breadth first topological ordering.  Show the</a:t>
            </a:r>
            <a:endParaRPr/>
          </a:p>
          <a:p>
            <a:pPr indent="0" lvl="0" marL="0" marR="0" rtl="0" algn="l">
              <a:spcBef>
                <a:spcPts val="0"/>
              </a:spcBef>
              <a:spcAft>
                <a:spcPts val="0"/>
              </a:spcAft>
              <a:buClr>
                <a:schemeClr val="dk1"/>
              </a:buClr>
              <a:buSzPts val="1350"/>
              <a:buFont typeface="Arial"/>
              <a:buNone/>
            </a:pPr>
            <a:r>
              <a:rPr lang="en-US" sz="1350">
                <a:solidFill>
                  <a:schemeClr val="dk1"/>
                </a:solidFill>
                <a:latin typeface="Arial"/>
                <a:ea typeface="Arial"/>
                <a:cs typeface="Arial"/>
                <a:sym typeface="Arial"/>
              </a:rPr>
              <a:t>     steps using arrays predCount, topologicalOrder and a queue</a:t>
            </a:r>
            <a:endParaRPr/>
          </a:p>
        </p:txBody>
      </p:sp>
      <p:pic>
        <p:nvPicPr>
          <p:cNvPr id="164" name="Google Shape;164;p20"/>
          <p:cNvPicPr preferRelativeResize="0"/>
          <p:nvPr/>
        </p:nvPicPr>
        <p:blipFill rotWithShape="1">
          <a:blip r:embed="rId3">
            <a:alphaModFix/>
          </a:blip>
          <a:srcRect b="10653" l="7057" r="11357" t="6117"/>
          <a:stretch/>
        </p:blipFill>
        <p:spPr>
          <a:xfrm>
            <a:off x="449825" y="532200"/>
            <a:ext cx="3232725" cy="2074325"/>
          </a:xfrm>
          <a:prstGeom prst="rect">
            <a:avLst/>
          </a:prstGeom>
          <a:noFill/>
          <a:ln>
            <a:noFill/>
          </a:ln>
        </p:spPr>
      </p:pic>
      <p:sp>
        <p:nvSpPr>
          <p:cNvPr id="165" name="Google Shape;165;p20"/>
          <p:cNvSpPr txBox="1"/>
          <p:nvPr/>
        </p:nvSpPr>
        <p:spPr>
          <a:xfrm>
            <a:off x="0" y="2606528"/>
            <a:ext cx="68580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Steps:</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We must find how many directed edges each node has (number of arrows).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predCount Array:</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p:txBody>
      </p:sp>
      <p:graphicFrame>
        <p:nvGraphicFramePr>
          <p:cNvPr id="166" name="Google Shape;166;p20"/>
          <p:cNvGraphicFramePr/>
          <p:nvPr/>
        </p:nvGraphicFramePr>
        <p:xfrm>
          <a:off x="110350" y="3198450"/>
          <a:ext cx="3000000" cy="3000000"/>
        </p:xfrm>
        <a:graphic>
          <a:graphicData uri="http://schemas.openxmlformats.org/drawingml/2006/table">
            <a:tbl>
              <a:tblPr>
                <a:noFill/>
                <a:tableStyleId>{328CDD49-3B25-4E60-87F1-38D98718681B}</a:tableStyleId>
              </a:tblPr>
              <a:tblGrid>
                <a:gridCol w="699625"/>
                <a:gridCol w="493125"/>
                <a:gridCol w="596375"/>
                <a:gridCol w="596375"/>
                <a:gridCol w="596375"/>
                <a:gridCol w="596375"/>
                <a:gridCol w="596375"/>
                <a:gridCol w="596375"/>
                <a:gridCol w="596375"/>
                <a:gridCol w="596375"/>
                <a:gridCol w="596375"/>
              </a:tblGrid>
              <a:tr h="381000">
                <a:tc>
                  <a:txBody>
                    <a:bodyPr/>
                    <a:lstStyle/>
                    <a:p>
                      <a:pPr indent="0" lvl="0" marL="0" rtl="0" algn="l">
                        <a:spcBef>
                          <a:spcPts val="0"/>
                        </a:spcBef>
                        <a:spcAft>
                          <a:spcPts val="0"/>
                        </a:spcAft>
                        <a:buNone/>
                      </a:pPr>
                      <a:r>
                        <a:rPr lang="en-US"/>
                        <a:t>Node</a:t>
                      </a:r>
                      <a:endParaRPr/>
                    </a:p>
                  </a:txBody>
                  <a:tcPr marT="91425" marB="91425" marR="91425" marL="91425"/>
                </a:tc>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4</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lang="en-US"/>
                        <a:t>6</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c>
                  <a:txBody>
                    <a:bodyPr/>
                    <a:lstStyle/>
                    <a:p>
                      <a:pPr indent="0" lvl="0" marL="0" rtl="0" algn="l">
                        <a:spcBef>
                          <a:spcPts val="0"/>
                        </a:spcBef>
                        <a:spcAft>
                          <a:spcPts val="0"/>
                        </a:spcAft>
                        <a:buNone/>
                      </a:pPr>
                      <a:r>
                        <a:rPr lang="en-US"/>
                        <a:t>9</a:t>
                      </a:r>
                      <a:endParaRPr/>
                    </a:p>
                  </a:txBody>
                  <a:tcPr marT="91425" marB="91425" marR="91425" marL="91425"/>
                </a:tc>
              </a:tr>
              <a:tr h="381000">
                <a:tc>
                  <a:txBody>
                    <a:bodyPr/>
                    <a:lstStyle/>
                    <a:p>
                      <a:pPr indent="0" lvl="0" marL="0" rtl="0" algn="l">
                        <a:spcBef>
                          <a:spcPts val="0"/>
                        </a:spcBef>
                        <a:spcAft>
                          <a:spcPts val="0"/>
                        </a:spcAft>
                        <a:buNone/>
                      </a:pPr>
                      <a:r>
                        <a:rPr lang="en-US"/>
                        <a:t>Edges</a:t>
                      </a:r>
                      <a:endParaRPr/>
                    </a:p>
                  </a:txBody>
                  <a:tcPr marT="91425" marB="91425" marR="91425" marL="91425"/>
                </a:tc>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r>
            </a:tbl>
          </a:graphicData>
        </a:graphic>
      </p:graphicFrame>
      <p:sp>
        <p:nvSpPr>
          <p:cNvPr id="167" name="Google Shape;167;p20"/>
          <p:cNvSpPr txBox="1"/>
          <p:nvPr/>
        </p:nvSpPr>
        <p:spPr>
          <a:xfrm>
            <a:off x="89259" y="3990844"/>
            <a:ext cx="6679500" cy="674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2) We use the queue to form the </a:t>
            </a:r>
            <a:r>
              <a:rPr b="1" lang="en-US" sz="1200">
                <a:solidFill>
                  <a:srgbClr val="0000FF"/>
                </a:solidFill>
                <a:latin typeface="Times New Roman"/>
                <a:ea typeface="Times New Roman"/>
                <a:cs typeface="Times New Roman"/>
                <a:sym typeface="Times New Roman"/>
              </a:rPr>
              <a:t>topological</a:t>
            </a:r>
            <a:r>
              <a:rPr b="1" lang="en-US" sz="1200">
                <a:solidFill>
                  <a:srgbClr val="0000FF"/>
                </a:solidFill>
                <a:latin typeface="Times New Roman"/>
                <a:ea typeface="Times New Roman"/>
                <a:cs typeface="Times New Roman"/>
                <a:sym typeface="Times New Roman"/>
              </a:rPr>
              <a:t> order, starting with [0, 7] since they have no directed edges currently.</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[0, 7]</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The topologicalOrder array is currently empty.</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We can start by dequeuing 0 and adding it to the </a:t>
            </a:r>
            <a:r>
              <a:rPr b="1" lang="en-US" sz="1200">
                <a:solidFill>
                  <a:srgbClr val="0000FF"/>
                </a:solidFill>
                <a:latin typeface="Times New Roman"/>
                <a:ea typeface="Times New Roman"/>
                <a:cs typeface="Times New Roman"/>
                <a:sym typeface="Times New Roman"/>
              </a:rPr>
              <a:t>topologicalOrder array. All dequeued values are added to the topologicalOrder array.</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predCount[1] becomes 0 and predCount[5] also becomes 1 as a result, so we enqueue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[7,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After dequeuing 7, predCount[4] becomes 2, predCount[6] becomes 1, and predCount[9] becomes 1. We can’t enqueue any of these right now, so we dequeue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null</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The 3rd, 4th, 5th, 6th, and 7th element predCount become 0, 2, 1, 0, and 0 respectively, so we cna enqueue 2, 5, and 6.</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[2, 6,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After dequeueing 2, predCount[4] becomes 0 so we can enqueue 4.</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[6, 5, 4]</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After dequeuing 6, predCount[8] becomes 1 so we can’t enqueue it immediately. We continue by dequeuing 5.</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[4]</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This change causes predCount[8] to become 0 so we can now dequeue it.</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[4,8]</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After dequeuing 4, predCount[3] becomes 1 so we can’t enqueue it right now. We continue by dequeueing 8.</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Queue =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This causes predCount[3] and predCount[9] to be 0 so we can enqueue 3 and 9. We can immediately dequeue them and this action causes no change to the predCount array so we are done.</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Final topologicalOrder array: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p:txBody>
      </p:sp>
      <p:graphicFrame>
        <p:nvGraphicFramePr>
          <p:cNvPr id="168" name="Google Shape;168;p20"/>
          <p:cNvGraphicFramePr/>
          <p:nvPr/>
        </p:nvGraphicFramePr>
        <p:xfrm>
          <a:off x="-325012" y="10317707"/>
          <a:ext cx="3000000" cy="3000000"/>
        </p:xfrm>
        <a:graphic>
          <a:graphicData uri="http://schemas.openxmlformats.org/drawingml/2006/table">
            <a:tbl>
              <a:tblPr>
                <a:noFill/>
                <a:tableStyleId>{328CDD49-3B25-4E60-87F1-38D98718681B}</a:tableStyleId>
              </a:tblPr>
              <a:tblGrid>
                <a:gridCol w="841650"/>
                <a:gridCol w="489675"/>
                <a:gridCol w="665650"/>
                <a:gridCol w="665650"/>
                <a:gridCol w="665650"/>
                <a:gridCol w="665650"/>
                <a:gridCol w="665650"/>
                <a:gridCol w="665650"/>
                <a:gridCol w="665650"/>
                <a:gridCol w="665650"/>
                <a:gridCol w="665650"/>
              </a:tblGrid>
              <a:tr h="381000">
                <a:tc>
                  <a:txBody>
                    <a:bodyPr/>
                    <a:lstStyle/>
                    <a:p>
                      <a:pPr indent="0" lvl="0" marL="0" rtl="0" algn="l">
                        <a:spcBef>
                          <a:spcPts val="0"/>
                        </a:spcBef>
                        <a:spcAft>
                          <a:spcPts val="0"/>
                        </a:spcAft>
                        <a:buNone/>
                      </a:pPr>
                      <a:r>
                        <a:rPr lang="en-US"/>
                        <a:t>Element</a:t>
                      </a:r>
                      <a:endParaRPr/>
                    </a:p>
                  </a:txBody>
                  <a:tcPr marT="91425" marB="91425" marR="91425" marL="91425"/>
                </a:tc>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4</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lang="en-US"/>
                        <a:t>6</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c>
                  <a:txBody>
                    <a:bodyPr/>
                    <a:lstStyle/>
                    <a:p>
                      <a:pPr indent="0" lvl="0" marL="0" rtl="0" algn="l">
                        <a:spcBef>
                          <a:spcPts val="0"/>
                        </a:spcBef>
                        <a:spcAft>
                          <a:spcPts val="0"/>
                        </a:spcAft>
                        <a:buNone/>
                      </a:pPr>
                      <a:r>
                        <a:rPr lang="en-US"/>
                        <a:t>9</a:t>
                      </a:r>
                      <a:endParaRPr/>
                    </a:p>
                  </a:txBody>
                  <a:tcPr marT="91425" marB="91425" marR="91425" marL="91425"/>
                </a:tc>
              </a:tr>
              <a:tr h="381000">
                <a:tc>
                  <a:txBody>
                    <a:bodyPr/>
                    <a:lstStyle/>
                    <a:p>
                      <a:pPr indent="0" lvl="0" marL="0" rtl="0" algn="l">
                        <a:spcBef>
                          <a:spcPts val="0"/>
                        </a:spcBef>
                        <a:spcAft>
                          <a:spcPts val="0"/>
                        </a:spcAft>
                        <a:buNone/>
                      </a:pPr>
                      <a:r>
                        <a:rPr lang="en-US"/>
                        <a:t>Value</a:t>
                      </a:r>
                      <a:endParaRPr/>
                    </a:p>
                  </a:txBody>
                  <a:tcPr marT="91425" marB="91425" marR="91425" marL="91425"/>
                </a:tc>
                <a:tc>
                  <a:txBody>
                    <a:bodyPr/>
                    <a:lstStyle/>
                    <a:p>
                      <a:pPr indent="0" lvl="0" marL="0" rtl="0" algn="l">
                        <a:spcBef>
                          <a:spcPts val="0"/>
                        </a:spcBef>
                        <a:spcAft>
                          <a:spcPts val="0"/>
                        </a:spcAft>
                        <a:buNone/>
                      </a:pPr>
                      <a:r>
                        <a:rPr lang="en-US"/>
                        <a:t>0</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c>
                  <a:txBody>
                    <a:bodyPr/>
                    <a:lstStyle/>
                    <a:p>
                      <a:pPr indent="0" lvl="0" marL="0" rtl="0" algn="l">
                        <a:spcBef>
                          <a:spcPts val="0"/>
                        </a:spcBef>
                        <a:spcAft>
                          <a:spcPts val="0"/>
                        </a:spcAft>
                        <a:buNone/>
                      </a:pPr>
                      <a:r>
                        <a:rPr lang="en-US"/>
                        <a:t>1</a:t>
                      </a:r>
                      <a:endParaRPr/>
                    </a:p>
                  </a:txBody>
                  <a:tcPr marT="91425" marB="91425" marR="91425" marL="91425"/>
                </a:tc>
                <a:tc>
                  <a:txBody>
                    <a:bodyPr/>
                    <a:lstStyle/>
                    <a:p>
                      <a:pPr indent="0" lvl="0" marL="0" rtl="0" algn="l">
                        <a:spcBef>
                          <a:spcPts val="0"/>
                        </a:spcBef>
                        <a:spcAft>
                          <a:spcPts val="0"/>
                        </a:spcAft>
                        <a:buNone/>
                      </a:pPr>
                      <a:r>
                        <a:rPr lang="en-US"/>
                        <a:t>2</a:t>
                      </a:r>
                      <a:endParaRPr/>
                    </a:p>
                  </a:txBody>
                  <a:tcPr marT="91425" marB="91425" marR="91425" marL="91425"/>
                </a:tc>
                <a:tc>
                  <a:txBody>
                    <a:bodyPr/>
                    <a:lstStyle/>
                    <a:p>
                      <a:pPr indent="0" lvl="0" marL="0" rtl="0" algn="l">
                        <a:spcBef>
                          <a:spcPts val="0"/>
                        </a:spcBef>
                        <a:spcAft>
                          <a:spcPts val="0"/>
                        </a:spcAft>
                        <a:buNone/>
                      </a:pPr>
                      <a:r>
                        <a:rPr lang="en-US"/>
                        <a:t>6</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c>
                  <a:txBody>
                    <a:bodyPr/>
                    <a:lstStyle/>
                    <a:p>
                      <a:pPr indent="0" lvl="0" marL="0" rtl="0" algn="l">
                        <a:spcBef>
                          <a:spcPts val="0"/>
                        </a:spcBef>
                        <a:spcAft>
                          <a:spcPts val="0"/>
                        </a:spcAft>
                        <a:buNone/>
                      </a:pPr>
                      <a:r>
                        <a:rPr lang="en-US"/>
                        <a:t>4</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c>
                  <a:txBody>
                    <a:bodyPr/>
                    <a:lstStyle/>
                    <a:p>
                      <a:pPr indent="0" lvl="0" marL="0" rtl="0" algn="l">
                        <a:spcBef>
                          <a:spcPts val="0"/>
                        </a:spcBef>
                        <a:spcAft>
                          <a:spcPts val="0"/>
                        </a:spcAft>
                        <a:buNone/>
                      </a:pPr>
                      <a:r>
                        <a:rPr lang="en-US"/>
                        <a:t>3</a:t>
                      </a:r>
                      <a:endParaRPr/>
                    </a:p>
                  </a:txBody>
                  <a:tcPr marT="91425" marB="91425" marR="91425" marL="91425"/>
                </a:tc>
                <a:tc>
                  <a:txBody>
                    <a:bodyPr/>
                    <a:lstStyle/>
                    <a:p>
                      <a:pPr indent="0" lvl="0" marL="0" rtl="0" algn="l">
                        <a:spcBef>
                          <a:spcPts val="0"/>
                        </a:spcBef>
                        <a:spcAft>
                          <a:spcPts val="0"/>
                        </a:spcAft>
                        <a:buNone/>
                      </a:pPr>
                      <a:r>
                        <a:rPr lang="en-US"/>
                        <a:t>9</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08" id="173" name="Google Shape;173;p21"/>
          <p:cNvPicPr preferRelativeResize="0"/>
          <p:nvPr/>
        </p:nvPicPr>
        <p:blipFill rotWithShape="1">
          <a:blip r:embed="rId3">
            <a:alphaModFix/>
          </a:blip>
          <a:srcRect b="0" l="0" r="0" t="0"/>
          <a:stretch/>
        </p:blipFill>
        <p:spPr>
          <a:xfrm>
            <a:off x="308113" y="670800"/>
            <a:ext cx="5715000" cy="2514600"/>
          </a:xfrm>
          <a:prstGeom prst="rect">
            <a:avLst/>
          </a:prstGeom>
          <a:noFill/>
          <a:ln>
            <a:noFill/>
          </a:ln>
        </p:spPr>
      </p:pic>
      <p:sp>
        <p:nvSpPr>
          <p:cNvPr id="174" name="Google Shape;174;p21"/>
          <p:cNvSpPr/>
          <p:nvPr/>
        </p:nvSpPr>
        <p:spPr>
          <a:xfrm>
            <a:off x="457213" y="277675"/>
            <a:ext cx="54168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350"/>
              <a:buFont typeface="Arial"/>
              <a:buNone/>
            </a:pPr>
            <a:r>
              <a:rPr lang="en-US" sz="1350">
                <a:solidFill>
                  <a:schemeClr val="dk1"/>
                </a:solidFill>
                <a:latin typeface="Arial"/>
                <a:ea typeface="Arial"/>
                <a:cs typeface="Arial"/>
                <a:sym typeface="Arial"/>
              </a:rPr>
              <a:t>10. List the nodes of the graph in a breadth first topological ordering.</a:t>
            </a:r>
            <a:endParaRPr/>
          </a:p>
        </p:txBody>
      </p:sp>
      <p:sp>
        <p:nvSpPr>
          <p:cNvPr id="175" name="Google Shape;175;p21"/>
          <p:cNvSpPr txBox="1"/>
          <p:nvPr/>
        </p:nvSpPr>
        <p:spPr>
          <a:xfrm>
            <a:off x="0" y="3278526"/>
            <a:ext cx="6858000" cy="304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Times New Roman"/>
              <a:buNone/>
            </a:pPr>
            <a:r>
              <a:rPr b="1" lang="en-US" sz="1200">
                <a:solidFill>
                  <a:srgbClr val="0000FF"/>
                </a:solidFill>
                <a:latin typeface="Times New Roman"/>
                <a:ea typeface="Times New Roman"/>
                <a:cs typeface="Times New Roman"/>
                <a:sym typeface="Times New Roman"/>
              </a:rPr>
              <a:t>Steps:</a:t>
            </a:r>
            <a:endParaRPr b="1" sz="1200">
              <a:solidFill>
                <a:srgbClr val="0000FF"/>
              </a:solidFill>
              <a:latin typeface="Times New Roman"/>
              <a:ea typeface="Times New Roman"/>
              <a:cs typeface="Times New Roman"/>
              <a:sym typeface="Times New Roman"/>
            </a:endParaRPr>
          </a:p>
          <a:p>
            <a:pPr indent="-304800" lvl="0" marL="457200" marR="0" rtl="0" algn="l">
              <a:spcBef>
                <a:spcPts val="0"/>
              </a:spcBef>
              <a:spcAft>
                <a:spcPts val="0"/>
              </a:spcAft>
              <a:buClr>
                <a:srgbClr val="0000FF"/>
              </a:buClr>
              <a:buSzPts val="1200"/>
              <a:buFont typeface="Times New Roman"/>
              <a:buAutoNum type="arabicParenR"/>
            </a:pPr>
            <a:r>
              <a:rPr b="1" lang="en-US" sz="1200">
                <a:solidFill>
                  <a:srgbClr val="0000FF"/>
                </a:solidFill>
                <a:latin typeface="Times New Roman"/>
                <a:ea typeface="Times New Roman"/>
                <a:cs typeface="Times New Roman"/>
                <a:sym typeface="Times New Roman"/>
              </a:rPr>
              <a:t>We must find how many directed edges each node has (number of arrows).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predCount Array:</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Start: 0</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Discrete Math: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Programming 1: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Programming 2: 2</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Algorithms: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Computer Organization: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Theory of Computation: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High-Level Languages: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Operating Systems: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Senior Seminar: 4</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Compilers: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End: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p:txBody>
      </p:sp>
      <p:sp>
        <p:nvSpPr>
          <p:cNvPr id="176" name="Google Shape;176;p21"/>
          <p:cNvSpPr txBox="1"/>
          <p:nvPr/>
        </p:nvSpPr>
        <p:spPr>
          <a:xfrm>
            <a:off x="0" y="6419351"/>
            <a:ext cx="6858000" cy="452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We remove Start and add it to the topological order.</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Discrete Math and Programming 1 have 0 edges as a result, so we enqueue those.</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After dequeuing Discrete Math, Programming 2 has only one edge, and after removing Programming 1, Programming 2 and Computer Organizations has 0 edges so we enqueue those.</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After dequeuing Programming 2, High-Level Languages and Algorithms have no edges so we enqueue those which causes Theory of Computation to be enqueued, and after dequeuing Computer Organizations, Operating Systems has no edges so that is enqueued, as well as Compilers.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After dequeueing High Level Languages, Senior Seminar loses an edge, and after dequeueing Algorithms, Theory of Computation is enqueued which also causes Senior Seminar to lose an edge and be enqueued, which causes “End” to be enqueued.</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We can then proceed to dequeue everything, which leads to the following order</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Topogical order:</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Start</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Discrete Math</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Programming 1</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Programming 2</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Computer Organizations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High Level Languages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Algorithms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Operating Systems</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Theory of Computation</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Senior Seminar</a:t>
            </a:r>
            <a:endParaRPr b="1" sz="1200">
              <a:solidFill>
                <a:srgbClr val="0000FF"/>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rgbClr val="0000FF"/>
                </a:solidFill>
                <a:latin typeface="Times New Roman"/>
                <a:ea typeface="Times New Roman"/>
                <a:cs typeface="Times New Roman"/>
                <a:sym typeface="Times New Roman"/>
              </a:rPr>
              <a:t>End</a:t>
            </a:r>
            <a:endParaRPr b="1" sz="1200">
              <a:solidFill>
                <a:srgbClr val="0000F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